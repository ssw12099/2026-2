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01" r:id="rId4"/>
  </p:sldMasterIdLst>
  <p:handoutMasterIdLst>
    <p:handoutMasterId r:id="rId12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8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Neue Haas Grotesk Text Pro" panose="020B0504020202020204" pitchFamily="34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A9F6D6-B25A-C28A-A96F-09E7352AA6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98491E-8681-69F1-BDD9-CC6ACCD7B8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421CE-43EC-458D-9A69-E3F8C749C5FA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2AB98-E0A2-11F6-4234-AAC985BAC6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4BF75-3457-9FB4-A4C8-AECBF1C65C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7F866-8F5A-4B19-9CCE-D9B3E22F1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446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6692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/>
          <a:lstStyle/>
          <a:p>
            <a:fld id="{F2EE3B7B-C7B5-42CF-90CF-67B3D21B2314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594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8" y="63249"/>
            <a:ext cx="12052638" cy="7597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18" y="935181"/>
            <a:ext cx="12052638" cy="5698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7377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7" r:id="rId1"/>
    <p:sldLayoutId id="2147483796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chip.net/" TargetMode="External"/><Relationship Id="rId2" Type="http://schemas.openxmlformats.org/officeDocument/2006/relationships/hyperlink" Target="mailto:Jeonggun.lee@hallym.ac.k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embeddedsochallymuniv/home" TargetMode="External"/><Relationship Id="rId2" Type="http://schemas.openxmlformats.org/officeDocument/2006/relationships/hyperlink" Target="mailto:jeonggun.lee@hallym.ac.kr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onchip.net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duct.kyobobook.co.kr/detail/S000001630950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ibrary.hallym.ac.kr/eds/brief/integrationResult?st=KWRD&amp;si=TOTAL&amp;websysdiv=tot&amp;q=%EB%94%94%EC%A7%80%ED%84%B8+%EB%85%BC%EB%A6%AC+%EC%84%A4%EA%B3%84%EC%99%80+%EC%BB%B4%ED%93%A8%ED%84%B0+%EA%B5%AC%EC%A1%B0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6" name="Rectangle 78">
            <a:extLst>
              <a:ext uri="{FF2B5EF4-FFF2-40B4-BE49-F238E27FC236}">
                <a16:creationId xmlns:a16="http://schemas.microsoft.com/office/drawing/2014/main" id="{3876D2B9-2E99-23C0-A25B-77784F231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02257A-3A00-FD81-ED9F-576962E99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496" y="585254"/>
            <a:ext cx="5446460" cy="27535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컴퓨터 구조</a:t>
            </a:r>
            <a:br>
              <a:rPr lang="en-US" altLang="ko-KR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ko-KR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(Computer Architecture)</a:t>
            </a:r>
            <a:br>
              <a:rPr lang="en-US" altLang="ko-KR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altLang="ko-KR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ko-KR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</a:t>
            </a:r>
            <a:r>
              <a:rPr lang="ko-KR" alt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주차 </a:t>
            </a:r>
            <a:r>
              <a:rPr lang="en-US" altLang="ko-KR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</a:t>
            </a:r>
            <a:r>
              <a:rPr lang="ko-KR" alt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소개</a:t>
            </a:r>
            <a:endParaRPr lang="en-US" sz="3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2FF17-C93B-CD89-BE23-AB095EC9D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9" y="2569464"/>
            <a:ext cx="4575330" cy="3555491"/>
          </a:xfrm>
        </p:spPr>
        <p:txBody>
          <a:bodyPr vert="horz" lIns="91440" tIns="45720" rIns="91440" bIns="45720" rtlCol="0" anchor="b">
            <a:normAutofit/>
          </a:bodyPr>
          <a:lstStyle/>
          <a:p>
            <a:pPr indent="-228600" algn="r"/>
            <a:r>
              <a:rPr lang="ko-KR" altLang="en-US" sz="2400" b="1" dirty="0"/>
              <a:t>이정근</a:t>
            </a:r>
            <a:endParaRPr lang="en-US" altLang="ko-KR" sz="2400" b="1" dirty="0"/>
          </a:p>
          <a:p>
            <a:pPr indent="-228600" algn="r"/>
            <a:r>
              <a:rPr lang="ko-KR" altLang="en-US" sz="2400" b="1" dirty="0"/>
              <a:t>한림대학교 소프트웨어학부</a:t>
            </a:r>
            <a:endParaRPr lang="en-US" altLang="ko-KR" sz="2400" b="1" dirty="0"/>
          </a:p>
          <a:p>
            <a:pPr indent="-228600" algn="r"/>
            <a:r>
              <a:rPr lang="en-US" sz="1800" b="1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 jeonggun.lee@hallym.ac.kr</a:t>
            </a:r>
            <a:endParaRPr lang="en-US" sz="1800" b="1" dirty="0">
              <a:solidFill>
                <a:srgbClr val="FFFF00"/>
              </a:solidFill>
            </a:endParaRPr>
          </a:p>
          <a:p>
            <a:pPr indent="-228600" algn="r"/>
            <a:r>
              <a:rPr lang="en-US" sz="1800" b="1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Homepage: https://www.onchip.net</a:t>
            </a:r>
            <a:r>
              <a:rPr lang="en-US" sz="1800" b="1" dirty="0">
                <a:solidFill>
                  <a:srgbClr val="FFFF00"/>
                </a:solidFill>
              </a:rPr>
              <a:t> </a:t>
            </a:r>
          </a:p>
        </p:txBody>
      </p:sp>
      <p:pic>
        <p:nvPicPr>
          <p:cNvPr id="16" name="Picture 15" descr="A cartoon of people playing a puzzle&#10;&#10;Description automatically generated">
            <a:extLst>
              <a:ext uri="{FF2B5EF4-FFF2-40B4-BE49-F238E27FC236}">
                <a16:creationId xmlns:a16="http://schemas.microsoft.com/office/drawing/2014/main" id="{8DEA8CCB-3B64-F964-DF66-55B41518B52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001" r="12296"/>
          <a:stretch/>
        </p:blipFill>
        <p:spPr>
          <a:xfrm>
            <a:off x="5105401" y="1"/>
            <a:ext cx="7090851" cy="6857999"/>
          </a:xfrm>
          <a:custGeom>
            <a:avLst/>
            <a:gdLst/>
            <a:ahLst/>
            <a:cxnLst/>
            <a:rect l="l" t="t" r="r" b="b"/>
            <a:pathLst>
              <a:path w="7090851" h="6874453">
                <a:moveTo>
                  <a:pt x="679539" y="0"/>
                </a:moveTo>
                <a:lnTo>
                  <a:pt x="7090851" y="0"/>
                </a:lnTo>
                <a:lnTo>
                  <a:pt x="7090851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64611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CDA1A-F18E-7827-EC9F-B0BFA2BB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교과목 소개</a:t>
            </a:r>
            <a:r>
              <a:rPr lang="en-US" altLang="ko-KR" dirty="0"/>
              <a:t>: </a:t>
            </a:r>
            <a:r>
              <a:rPr lang="ko-KR" altLang="en-US" sz="4400" dirty="0"/>
              <a:t>컴퓨터구조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FB864-CCC3-345A-596D-EE52187EF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담당교수</a:t>
            </a:r>
            <a:r>
              <a:rPr lang="en-US" altLang="ko-KR" sz="2800" dirty="0"/>
              <a:t>:</a:t>
            </a:r>
            <a:r>
              <a:rPr lang="ko-KR" altLang="en-US" sz="2800" dirty="0"/>
              <a:t> 이정근</a:t>
            </a:r>
            <a:endParaRPr lang="en-US" altLang="ko-KR" sz="2800" dirty="0"/>
          </a:p>
          <a:p>
            <a:pPr lvl="1"/>
            <a:r>
              <a:rPr lang="ko-KR" altLang="en-US" sz="2400" dirty="0"/>
              <a:t>전자우편 </a:t>
            </a:r>
            <a:r>
              <a:rPr lang="en-US" altLang="ko-KR" sz="24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jeonggun.lee@hallym.ac.kr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lvl="1"/>
            <a:r>
              <a:rPr lang="en-US" altLang="ko-KR" sz="2400" dirty="0"/>
              <a:t>Homepage: </a:t>
            </a:r>
            <a:r>
              <a:rPr lang="en-US" altLang="ko-KR" sz="2400" dirty="0">
                <a:hlinkClick r:id="rId3"/>
              </a:rPr>
              <a:t>https://sites.google.com/site/embeddedsochallymuniv/home</a:t>
            </a:r>
            <a:r>
              <a:rPr lang="en-US" altLang="ko-KR" sz="2400" dirty="0"/>
              <a:t> </a:t>
            </a:r>
          </a:p>
          <a:p>
            <a:pPr lvl="1"/>
            <a:r>
              <a:rPr lang="en-US" altLang="ko-KR" sz="2400" dirty="0"/>
              <a:t>Mobile: 010-3840-6765 (</a:t>
            </a:r>
            <a:r>
              <a:rPr lang="ko-KR" altLang="en-US" sz="2400" dirty="0"/>
              <a:t>급한 연락 시</a:t>
            </a:r>
            <a:r>
              <a:rPr lang="en-US" altLang="ko-KR" sz="2400" dirty="0"/>
              <a:t>)</a:t>
            </a:r>
          </a:p>
          <a:p>
            <a:r>
              <a:rPr lang="ko-KR" altLang="en-US" sz="2800" dirty="0"/>
              <a:t>교과목번호</a:t>
            </a:r>
            <a:r>
              <a:rPr lang="en-US" altLang="ko-KR" sz="2800" dirty="0"/>
              <a:t>/</a:t>
            </a:r>
            <a:r>
              <a:rPr lang="ko-KR" altLang="en-US" sz="2800" dirty="0"/>
              <a:t>분반</a:t>
            </a:r>
            <a:r>
              <a:rPr lang="en-US" altLang="ko-KR" sz="2800" dirty="0"/>
              <a:t>:</a:t>
            </a:r>
            <a:r>
              <a:rPr lang="ko-KR" altLang="en-US" sz="2800" dirty="0"/>
              <a:t> </a:t>
            </a:r>
            <a:r>
              <a:rPr lang="en-US" altLang="ko-KR" sz="2800" dirty="0"/>
              <a:t>506204 / 1~3</a:t>
            </a:r>
          </a:p>
          <a:p>
            <a:r>
              <a:rPr lang="ko-KR" altLang="en-US" sz="2800" dirty="0"/>
              <a:t>이수구분</a:t>
            </a:r>
            <a:r>
              <a:rPr lang="en-US" altLang="ko-KR" sz="2800" dirty="0"/>
              <a:t>:</a:t>
            </a:r>
            <a:r>
              <a:rPr lang="ko-KR" altLang="en-US" sz="2800" dirty="0"/>
              <a:t> 공통전선</a:t>
            </a:r>
            <a:endParaRPr lang="en-US" altLang="ko-KR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95B73-A801-63A3-A8AC-5674362E87E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3951" y="6425816"/>
            <a:ext cx="429768" cy="365125"/>
          </a:xfrm>
        </p:spPr>
        <p:txBody>
          <a:bodyPr/>
          <a:lstStyle/>
          <a:p>
            <a:fld id="{6E91CC32-6A6B-4E2E-BBA1-6864F305DA26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0750E-4139-5C0C-B3DA-8883052E1CEC}"/>
              </a:ext>
            </a:extLst>
          </p:cNvPr>
          <p:cNvSpPr txBox="1"/>
          <p:nvPr/>
        </p:nvSpPr>
        <p:spPr>
          <a:xfrm>
            <a:off x="9262145" y="48821"/>
            <a:ext cx="2896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https://www.onchip.net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536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275B0-98B1-136B-D10B-5DE6D9998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0B7A8-5A10-743C-7963-6672DD08A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ko-KR" altLang="en-US" sz="2400" dirty="0">
                <a:solidFill>
                  <a:srgbClr val="FFFF00"/>
                </a:solidFill>
              </a:rPr>
              <a:t>현대의 컴퓨터의 내부구조</a:t>
            </a:r>
            <a:r>
              <a:rPr lang="ko-KR" altLang="en-US" sz="2400" dirty="0"/>
              <a:t>를 배우게 됩니다</a:t>
            </a:r>
            <a:r>
              <a:rPr lang="en-US" altLang="ko-KR" sz="2400" dirty="0"/>
              <a:t>. </a:t>
            </a:r>
            <a:r>
              <a:rPr lang="ko-KR" altLang="en-US" sz="2400" dirty="0"/>
              <a:t>컴퓨터 내부 구조에 대한 이해는 컴퓨터 프로그래밍을 배울 때 최적화된 코드를 작성할 수 있도록 도와줄 것입니다</a:t>
            </a:r>
            <a:r>
              <a:rPr lang="en-US" altLang="ko-KR" sz="2400" dirty="0"/>
              <a:t>. </a:t>
            </a:r>
            <a:r>
              <a:rPr lang="ko-KR" altLang="en-US" sz="2400" dirty="0"/>
              <a:t>특히 </a:t>
            </a:r>
            <a:r>
              <a:rPr lang="en-US" altLang="ko-KR" sz="2400" dirty="0"/>
              <a:t>MIPS </a:t>
            </a:r>
            <a:r>
              <a:rPr lang="ko-KR" altLang="en-US" sz="2400" dirty="0"/>
              <a:t>프로세서 구조에 대해서 배우게 되며</a:t>
            </a:r>
            <a:r>
              <a:rPr lang="en-US" altLang="ko-KR" sz="2400" dirty="0"/>
              <a:t>, MIPS </a:t>
            </a:r>
            <a:r>
              <a:rPr lang="ko-KR" altLang="en-US" sz="2400" dirty="0"/>
              <a:t>프로세서에서 사용되는 어셈블리 언어를 실습을 통해 배우게 될 것입니다</a:t>
            </a:r>
            <a:r>
              <a:rPr lang="en-US" altLang="ko-KR" sz="2400" dirty="0"/>
              <a:t>.</a:t>
            </a:r>
          </a:p>
          <a:p>
            <a:pPr algn="just"/>
            <a:endParaRPr lang="en-US" altLang="ko-KR" sz="900" dirty="0"/>
          </a:p>
          <a:p>
            <a:r>
              <a:rPr lang="ko-KR" altLang="en-US" sz="2400" dirty="0"/>
              <a:t>실습</a:t>
            </a:r>
          </a:p>
          <a:p>
            <a:pPr lvl="1"/>
            <a:r>
              <a:rPr lang="en-US" altLang="ko-KR" sz="2000" dirty="0"/>
              <a:t>MIPS </a:t>
            </a:r>
            <a:r>
              <a:rPr lang="ko-KR" altLang="en-US" sz="2000" dirty="0"/>
              <a:t>프로세서의 어셈블리 언어 시뮬레이션을 위해 오픈소스 소프트웨어인 </a:t>
            </a:r>
            <a:r>
              <a:rPr lang="en-US" altLang="ko-KR" sz="2000" dirty="0"/>
              <a:t>"</a:t>
            </a:r>
            <a:r>
              <a:rPr lang="en-US" altLang="ko-KR" sz="2000" dirty="0">
                <a:solidFill>
                  <a:srgbClr val="FFFF00"/>
                </a:solidFill>
              </a:rPr>
              <a:t>MIPS </a:t>
            </a:r>
            <a:r>
              <a:rPr lang="ko-KR" altLang="en-US" sz="2000" dirty="0">
                <a:solidFill>
                  <a:srgbClr val="FFFF00"/>
                </a:solidFill>
              </a:rPr>
              <a:t>어셈블러 시뮬레이터</a:t>
            </a:r>
            <a:r>
              <a:rPr lang="en-US" altLang="ko-KR" sz="2000" dirty="0"/>
              <a:t>"</a:t>
            </a:r>
            <a:r>
              <a:rPr lang="ko-KR" altLang="en-US" sz="2000" dirty="0"/>
              <a:t>를 사용합니다</a:t>
            </a:r>
            <a:r>
              <a:rPr lang="en-US" altLang="ko-KR" sz="2000" dirty="0"/>
              <a:t>. 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en-US" altLang="ko-KR" sz="2000" dirty="0">
                <a:solidFill>
                  <a:srgbClr val="FFFF00"/>
                </a:solidFill>
                <a:sym typeface="Wingdings" panose="05000000000000000000" pitchFamily="2" charset="2"/>
              </a:rPr>
              <a:t>QtSPIM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lvl="1"/>
            <a:r>
              <a:rPr lang="ko-KR" altLang="en-US" sz="2000" dirty="0"/>
              <a:t>오픈소스 시뮬레이터인 </a:t>
            </a:r>
            <a:r>
              <a:rPr lang="en-US" altLang="ko-KR" sz="2000" dirty="0">
                <a:solidFill>
                  <a:srgbClr val="FFFF00"/>
                </a:solidFill>
              </a:rPr>
              <a:t>Logisim</a:t>
            </a:r>
            <a:r>
              <a:rPr lang="en-US" altLang="ko-KR" sz="2000" dirty="0"/>
              <a:t> </a:t>
            </a:r>
            <a:r>
              <a:rPr lang="ko-KR" altLang="en-US" sz="2000" dirty="0"/>
              <a:t>시뮬레이터를 이용한 </a:t>
            </a:r>
            <a:r>
              <a:rPr lang="en-US" altLang="ko-KR" sz="2000" dirty="0"/>
              <a:t>MIPS </a:t>
            </a:r>
            <a:r>
              <a:rPr lang="ko-KR" altLang="en-US" sz="2000" dirty="0"/>
              <a:t>프로세서 구조 설계 및 확인</a:t>
            </a:r>
          </a:p>
          <a:p>
            <a:endParaRPr lang="en-US" altLang="ko-KR" sz="900" dirty="0"/>
          </a:p>
          <a:p>
            <a:r>
              <a:rPr lang="ko-KR" altLang="en-US" sz="2400" dirty="0"/>
              <a:t>주요 학습 내용</a:t>
            </a:r>
            <a:r>
              <a:rPr lang="en-US" altLang="ko-KR" sz="2400" dirty="0"/>
              <a:t>:</a:t>
            </a:r>
          </a:p>
          <a:p>
            <a:pPr lvl="1"/>
            <a:r>
              <a:rPr lang="en-US" altLang="ko-KR" sz="2000" dirty="0"/>
              <a:t>Computer Architecture and </a:t>
            </a:r>
            <a:r>
              <a:rPr lang="en-US" altLang="ko-KR" sz="2000" dirty="0">
                <a:solidFill>
                  <a:srgbClr val="FFFF00"/>
                </a:solidFill>
              </a:rPr>
              <a:t>Assembly</a:t>
            </a:r>
            <a:r>
              <a:rPr lang="en-US" altLang="ko-KR" sz="2000" dirty="0"/>
              <a:t> Language</a:t>
            </a:r>
          </a:p>
          <a:p>
            <a:pPr lvl="1"/>
            <a:r>
              <a:rPr lang="en-US" altLang="ko-KR" sz="2000" dirty="0">
                <a:solidFill>
                  <a:srgbClr val="FFFF00"/>
                </a:solidFill>
              </a:rPr>
              <a:t>Microarchitecture</a:t>
            </a:r>
            <a:r>
              <a:rPr lang="en-US" altLang="ko-KR" sz="2000" dirty="0"/>
              <a:t> for MIPS Microprocessors</a:t>
            </a:r>
          </a:p>
          <a:p>
            <a:pPr lvl="1"/>
            <a:r>
              <a:rPr lang="en-US" altLang="ko-KR" sz="2000" dirty="0"/>
              <a:t>Memory Architecture including cache architectures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80949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6A0A-2A81-681B-07CF-0EBBA45EC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성적반영 비율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16F67-5BAB-E36D-CC62-72F8032B4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중간 고사</a:t>
            </a:r>
            <a:r>
              <a:rPr lang="en-US" altLang="ko-KR" sz="2400" dirty="0"/>
              <a:t>, </a:t>
            </a:r>
            <a:r>
              <a:rPr lang="ko-KR" altLang="en-US" sz="2400" dirty="0"/>
              <a:t>기말고사</a:t>
            </a:r>
            <a:r>
              <a:rPr lang="en-US" altLang="ko-KR" sz="2400" dirty="0"/>
              <a:t>: 70%</a:t>
            </a:r>
          </a:p>
          <a:p>
            <a:r>
              <a:rPr lang="ko-KR" altLang="en-US" sz="2400" dirty="0"/>
              <a:t>실습 및 과제</a:t>
            </a:r>
            <a:r>
              <a:rPr lang="en-US" altLang="ko-KR" sz="2400" dirty="0"/>
              <a:t>: 30%</a:t>
            </a:r>
            <a:endParaRPr lang="en-US" sz="2400" dirty="0"/>
          </a:p>
        </p:txBody>
      </p:sp>
      <p:pic>
        <p:nvPicPr>
          <p:cNvPr id="2052" name="Picture 4" descr="시험기간 짤 대방출☆(다운받아 가세요) : 네이버 블로그">
            <a:extLst>
              <a:ext uri="{FF2B5EF4-FFF2-40B4-BE49-F238E27FC236}">
                <a16:creationId xmlns:a16="http://schemas.microsoft.com/office/drawing/2014/main" id="{B787ABFF-453B-6E9E-DC36-7E39D8BF2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149" y="1958919"/>
            <a:ext cx="8310465" cy="4674637"/>
          </a:xfrm>
          <a:prstGeom prst="roundRect">
            <a:avLst>
              <a:gd name="adj" fmla="val 679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683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AFCC1-D6AB-E38B-6E43-F14316D3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교재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CE16F-C4E8-DA72-669E-FA56D8CC1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b="1" dirty="0">
                <a:solidFill>
                  <a:srgbClr val="FFFF00"/>
                </a:solidFill>
              </a:rPr>
              <a:t>디지털 논리 설계와 컴퓨터 구조</a:t>
            </a:r>
            <a:r>
              <a:rPr lang="ko-KR" altLang="en-US" sz="2400" dirty="0"/>
              <a:t> </a:t>
            </a:r>
            <a:r>
              <a:rPr lang="en-US" altLang="ko-KR" sz="2400" dirty="0"/>
              <a:t>2</a:t>
            </a:r>
            <a:r>
              <a:rPr lang="ko-KR" altLang="en-US" sz="2400" dirty="0"/>
              <a:t>판</a:t>
            </a:r>
            <a:endParaRPr lang="en-US" altLang="ko-KR" sz="2400" dirty="0"/>
          </a:p>
          <a:p>
            <a:pPr lvl="1"/>
            <a:r>
              <a:rPr lang="ko-KR" altLang="en-US" sz="2000" dirty="0"/>
              <a:t>데이비드 머니 해리스 </a:t>
            </a:r>
            <a:r>
              <a:rPr lang="en-US" altLang="ko-KR" sz="2000" dirty="0"/>
              <a:t>, </a:t>
            </a:r>
            <a:r>
              <a:rPr lang="ko-KR" altLang="en-US" sz="2000" dirty="0"/>
              <a:t>사라 </a:t>
            </a:r>
            <a:r>
              <a:rPr lang="en-US" altLang="ko-KR" sz="2000" dirty="0"/>
              <a:t>L. </a:t>
            </a:r>
            <a:r>
              <a:rPr lang="ko-KR" altLang="en-US" sz="2000" dirty="0"/>
              <a:t>해리스 지음</a:t>
            </a:r>
            <a:endParaRPr lang="en-US" altLang="ko-KR" sz="2000" dirty="0"/>
          </a:p>
          <a:p>
            <a:pPr lvl="1"/>
            <a:r>
              <a:rPr lang="ko-KR" altLang="en-US" sz="2000" dirty="0"/>
              <a:t>강영흥 </a:t>
            </a:r>
            <a:r>
              <a:rPr lang="en-US" altLang="ko-KR" sz="2000" dirty="0"/>
              <a:t>, </a:t>
            </a:r>
            <a:r>
              <a:rPr lang="ko-KR" altLang="en-US" sz="2000" dirty="0"/>
              <a:t>박춘명 </a:t>
            </a:r>
            <a:r>
              <a:rPr lang="en-US" altLang="ko-KR" sz="2000" dirty="0"/>
              <a:t>, </a:t>
            </a:r>
            <a:r>
              <a:rPr lang="ko-KR" altLang="en-US" sz="2000" dirty="0"/>
              <a:t>지석근 </a:t>
            </a:r>
            <a:r>
              <a:rPr lang="en-US" altLang="ko-KR" sz="2000" dirty="0"/>
              <a:t>, </a:t>
            </a:r>
            <a:r>
              <a:rPr lang="ko-KR" altLang="en-US" sz="2000" dirty="0"/>
              <a:t>황지원 옮김</a:t>
            </a:r>
            <a:endParaRPr lang="en-US" altLang="ko-KR" sz="2000" dirty="0"/>
          </a:p>
          <a:p>
            <a:pPr lvl="1"/>
            <a:r>
              <a:rPr lang="ko-KR" altLang="en-US" sz="2000" dirty="0"/>
              <a:t>카오스북</a:t>
            </a:r>
            <a:endParaRPr lang="en-US" sz="2000" dirty="0"/>
          </a:p>
        </p:txBody>
      </p:sp>
      <p:pic>
        <p:nvPicPr>
          <p:cNvPr id="1026" name="Picture 2" descr="디지털 논리 설계와 컴퓨터 구조 대표 이미지">
            <a:extLst>
              <a:ext uri="{FF2B5EF4-FFF2-40B4-BE49-F238E27FC236}">
                <a16:creationId xmlns:a16="http://schemas.microsoft.com/office/drawing/2014/main" id="{E961B46F-2B37-781B-5ECC-ECE5C226D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927" y="338137"/>
            <a:ext cx="4362450" cy="618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4E5F00-DF6E-DF74-D708-B6126CD09F55}"/>
              </a:ext>
            </a:extLst>
          </p:cNvPr>
          <p:cNvSpPr txBox="1"/>
          <p:nvPr/>
        </p:nvSpPr>
        <p:spPr>
          <a:xfrm>
            <a:off x="232795" y="3461202"/>
            <a:ext cx="70404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교보문고</a:t>
            </a:r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한림대 도서관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240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14510-CC38-A45E-C884-8FC9F4E21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Computer Architecture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0FD04-4DF0-9031-192C-FC71A95F7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b="1" dirty="0">
                <a:solidFill>
                  <a:srgbClr val="FFFF00"/>
                </a:solidFill>
              </a:rPr>
              <a:t>왜 꼭 배워야 하나 </a:t>
            </a:r>
            <a:r>
              <a:rPr lang="en-US" altLang="ko-KR" b="1" dirty="0">
                <a:solidFill>
                  <a:srgbClr val="FFFF00"/>
                </a:solidFill>
              </a:rPr>
              <a:t>(</a:t>
            </a:r>
            <a:r>
              <a:rPr lang="ko-KR" altLang="en-US" b="1" dirty="0">
                <a:solidFill>
                  <a:srgbClr val="FFFF00"/>
                </a:solidFill>
              </a:rPr>
              <a:t>핵심 이유 </a:t>
            </a:r>
            <a:r>
              <a:rPr lang="en-US" altLang="ko-KR" b="1" dirty="0">
                <a:solidFill>
                  <a:srgbClr val="FFFF00"/>
                </a:solidFill>
              </a:rPr>
              <a:t>7</a:t>
            </a:r>
            <a:r>
              <a:rPr lang="ko-KR" altLang="en-US" b="1" dirty="0">
                <a:solidFill>
                  <a:srgbClr val="FFFF00"/>
                </a:solidFill>
              </a:rPr>
              <a:t>가지</a:t>
            </a:r>
            <a:r>
              <a:rPr lang="en-US" altLang="ko-KR" b="1" dirty="0">
                <a:solidFill>
                  <a:srgbClr val="FFFF00"/>
                </a:solidFill>
              </a:rPr>
              <a:t>)</a:t>
            </a:r>
          </a:p>
          <a:p>
            <a:r>
              <a:rPr lang="ko-KR" altLang="en-US" dirty="0">
                <a:solidFill>
                  <a:srgbClr val="FFFF00"/>
                </a:solidFill>
              </a:rPr>
              <a:t>성능을 진짜로 올리려면</a:t>
            </a:r>
          </a:p>
          <a:p>
            <a:pPr lvl="1"/>
            <a:r>
              <a:rPr lang="ko-KR" altLang="en-US" dirty="0"/>
              <a:t>캐시</a:t>
            </a:r>
            <a:r>
              <a:rPr lang="en-US" altLang="ko-KR" dirty="0"/>
              <a:t>/</a:t>
            </a:r>
            <a:r>
              <a:rPr lang="ko-KR" altLang="en-US" dirty="0"/>
              <a:t>메모리 계층</a:t>
            </a:r>
            <a:r>
              <a:rPr lang="en-US" altLang="ko-KR" dirty="0"/>
              <a:t>, </a:t>
            </a:r>
            <a:r>
              <a:rPr lang="ko-KR" altLang="en-US" dirty="0"/>
              <a:t>분기예측</a:t>
            </a:r>
            <a:r>
              <a:rPr lang="en-US" altLang="ko-KR" dirty="0"/>
              <a:t>, </a:t>
            </a:r>
            <a:r>
              <a:rPr lang="ko-KR" altLang="en-US" dirty="0" err="1"/>
              <a:t>파이프라이닝</a:t>
            </a:r>
            <a:r>
              <a:rPr lang="en-US" altLang="ko-KR" dirty="0"/>
              <a:t>, SIMD·GPU </a:t>
            </a:r>
            <a:r>
              <a:rPr lang="ko-KR" altLang="en-US" dirty="0"/>
              <a:t>같은 </a:t>
            </a:r>
            <a:r>
              <a:rPr lang="ko-KR" altLang="en-US" b="1" dirty="0"/>
              <a:t>실제 병렬성</a:t>
            </a:r>
            <a:r>
              <a:rPr lang="ko-KR" altLang="en-US" dirty="0"/>
              <a:t>을 이해해야 코드</a:t>
            </a:r>
            <a:r>
              <a:rPr lang="en-US" altLang="ko-KR" dirty="0"/>
              <a:t>/</a:t>
            </a:r>
            <a:r>
              <a:rPr lang="ko-KR" altLang="en-US" dirty="0"/>
              <a:t>모델 최적화</a:t>
            </a:r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배열 순회 방식</a:t>
            </a:r>
            <a:r>
              <a:rPr lang="en-US" altLang="ko-KR" dirty="0"/>
              <a:t>(</a:t>
            </a:r>
            <a:r>
              <a:rPr lang="en-US" altLang="ko-KR" dirty="0" err="1"/>
              <a:t>SoA</a:t>
            </a:r>
            <a:r>
              <a:rPr lang="en-US" altLang="ko-KR" dirty="0"/>
              <a:t> vs </a:t>
            </a:r>
            <a:r>
              <a:rPr lang="en-US" altLang="ko-KR" dirty="0" err="1"/>
              <a:t>AoS</a:t>
            </a:r>
            <a:r>
              <a:rPr lang="en-US" altLang="ko-KR" dirty="0"/>
              <a:t>), </a:t>
            </a:r>
            <a:r>
              <a:rPr lang="ko-KR" altLang="en-US" dirty="0"/>
              <a:t>루프 </a:t>
            </a:r>
            <a:r>
              <a:rPr lang="ko-KR" altLang="en-US" dirty="0" err="1"/>
              <a:t>타일링</a:t>
            </a:r>
            <a:r>
              <a:rPr lang="en-US" altLang="ko-KR" dirty="0"/>
              <a:t>, </a:t>
            </a:r>
            <a:r>
              <a:rPr lang="ko-KR" altLang="en-US" dirty="0"/>
              <a:t>벡터화</a:t>
            </a:r>
            <a:r>
              <a:rPr lang="en-US" altLang="ko-KR" dirty="0"/>
              <a:t>, </a:t>
            </a:r>
            <a:r>
              <a:rPr lang="ko-KR" altLang="en-US" dirty="0"/>
              <a:t>배치 크기</a:t>
            </a:r>
            <a:r>
              <a:rPr lang="en-US" altLang="ko-KR" dirty="0"/>
              <a:t>·</a:t>
            </a:r>
            <a:r>
              <a:rPr lang="ko-KR" altLang="en-US" dirty="0"/>
              <a:t>메모리 대역폭의 상한 등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solidFill>
                  <a:srgbClr val="FFFF00"/>
                </a:solidFill>
              </a:rPr>
              <a:t>보안의 기초</a:t>
            </a:r>
          </a:p>
          <a:p>
            <a:pPr lvl="1"/>
            <a:r>
              <a:rPr lang="ko-KR" altLang="en-US" dirty="0"/>
              <a:t>버퍼 </a:t>
            </a:r>
            <a:r>
              <a:rPr lang="ko-KR" altLang="en-US" dirty="0" err="1"/>
              <a:t>오버플로우</a:t>
            </a:r>
            <a:r>
              <a:rPr lang="en-US" altLang="ko-KR" dirty="0"/>
              <a:t>, </a:t>
            </a:r>
            <a:r>
              <a:rPr lang="ko-KR" altLang="en-US" dirty="0"/>
              <a:t>권한 수준</a:t>
            </a:r>
            <a:r>
              <a:rPr lang="en-US" altLang="ko-KR" dirty="0"/>
              <a:t>, </a:t>
            </a:r>
            <a:r>
              <a:rPr lang="ko-KR" altLang="en-US" dirty="0"/>
              <a:t>측면채널</a:t>
            </a:r>
            <a:r>
              <a:rPr lang="en-US" altLang="ko-KR" dirty="0"/>
              <a:t>(</a:t>
            </a:r>
            <a:r>
              <a:rPr lang="ko-KR" altLang="en-US" dirty="0"/>
              <a:t>캐시 타이밍</a:t>
            </a:r>
            <a:r>
              <a:rPr lang="en-US" altLang="ko-KR" dirty="0"/>
              <a:t>) </a:t>
            </a:r>
            <a:r>
              <a:rPr lang="ko-KR" altLang="en-US" dirty="0"/>
              <a:t>등 </a:t>
            </a:r>
            <a:r>
              <a:rPr lang="ko-KR" altLang="en-US" b="1" dirty="0"/>
              <a:t>취약점의 뿌리</a:t>
            </a:r>
            <a:r>
              <a:rPr lang="ko-KR" altLang="en-US" dirty="0"/>
              <a:t>가 구조에 있습니다</a:t>
            </a:r>
            <a:r>
              <a:rPr lang="en-US" altLang="ko-KR" dirty="0"/>
              <a:t>. </a:t>
            </a:r>
            <a:r>
              <a:rPr lang="ko-KR" altLang="en-US" dirty="0"/>
              <a:t>안전한 코드를 설계하려면 필수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solidFill>
                  <a:srgbClr val="FFFF00"/>
                </a:solidFill>
              </a:rPr>
              <a:t>병렬</a:t>
            </a:r>
            <a:r>
              <a:rPr lang="en-US" altLang="ko-KR" dirty="0">
                <a:solidFill>
                  <a:srgbClr val="FFFF00"/>
                </a:solidFill>
              </a:rPr>
              <a:t>·</a:t>
            </a:r>
            <a:r>
              <a:rPr lang="ko-KR" altLang="en-US" dirty="0">
                <a:solidFill>
                  <a:srgbClr val="FFFF00"/>
                </a:solidFill>
              </a:rPr>
              <a:t>분산 프로그래밍의 토대</a:t>
            </a:r>
          </a:p>
          <a:p>
            <a:pPr lvl="1"/>
            <a:r>
              <a:rPr lang="ko-KR" altLang="en-US" dirty="0"/>
              <a:t>코어</a:t>
            </a:r>
            <a:r>
              <a:rPr lang="en-US" altLang="ko-KR" dirty="0"/>
              <a:t>/</a:t>
            </a:r>
            <a:r>
              <a:rPr lang="ko-KR" altLang="en-US" dirty="0"/>
              <a:t>스레드</a:t>
            </a:r>
            <a:r>
              <a:rPr lang="en-US" altLang="ko-KR" dirty="0"/>
              <a:t>/</a:t>
            </a:r>
            <a:r>
              <a:rPr lang="ko-KR" altLang="en-US" dirty="0"/>
              <a:t>워프</a:t>
            </a:r>
            <a:r>
              <a:rPr lang="en-US" altLang="ko-KR" dirty="0"/>
              <a:t>, </a:t>
            </a:r>
            <a:r>
              <a:rPr lang="ko-KR" altLang="en-US" dirty="0"/>
              <a:t>메모리 일관성</a:t>
            </a:r>
            <a:r>
              <a:rPr lang="en-US" altLang="ko-KR" dirty="0"/>
              <a:t>·</a:t>
            </a:r>
            <a:r>
              <a:rPr lang="ko-KR" altLang="en-US" dirty="0"/>
              <a:t>원자적 연산 등을 모르면 </a:t>
            </a:r>
            <a:r>
              <a:rPr lang="ko-KR" altLang="en-US" b="1" dirty="0"/>
              <a:t>데이터 레이스</a:t>
            </a:r>
            <a:r>
              <a:rPr lang="ko-KR" altLang="en-US" dirty="0"/>
              <a:t>와 성능 역행이 일상</a:t>
            </a:r>
            <a:endParaRPr lang="en-US" altLang="ko-KR" dirty="0"/>
          </a:p>
          <a:p>
            <a:r>
              <a:rPr lang="ko-KR" altLang="en-US" dirty="0">
                <a:solidFill>
                  <a:srgbClr val="FFFF00"/>
                </a:solidFill>
              </a:rPr>
              <a:t>운영체제</a:t>
            </a:r>
            <a:r>
              <a:rPr lang="en-US" altLang="ko-KR" dirty="0">
                <a:solidFill>
                  <a:srgbClr val="FFFF00"/>
                </a:solidFill>
              </a:rPr>
              <a:t>·</a:t>
            </a:r>
            <a:r>
              <a:rPr lang="ko-KR" altLang="en-US" dirty="0">
                <a:solidFill>
                  <a:srgbClr val="FFFF00"/>
                </a:solidFill>
              </a:rPr>
              <a:t>컴파일러</a:t>
            </a:r>
            <a:r>
              <a:rPr lang="en-US" altLang="ko-KR" dirty="0">
                <a:solidFill>
                  <a:srgbClr val="FFFF00"/>
                </a:solidFill>
              </a:rPr>
              <a:t>·DB·</a:t>
            </a:r>
            <a:r>
              <a:rPr lang="ko-KR" altLang="en-US" dirty="0">
                <a:solidFill>
                  <a:srgbClr val="FFFF00"/>
                </a:solidFill>
              </a:rPr>
              <a:t>네트워킹의 연결고리</a:t>
            </a:r>
          </a:p>
          <a:p>
            <a:pPr lvl="1"/>
            <a:r>
              <a:rPr lang="ko-KR" altLang="en-US" dirty="0"/>
              <a:t>가상메모리</a:t>
            </a:r>
            <a:r>
              <a:rPr lang="en-US" altLang="ko-KR" dirty="0"/>
              <a:t>·</a:t>
            </a:r>
            <a:r>
              <a:rPr lang="ko-KR" altLang="en-US" dirty="0"/>
              <a:t>컨텍스트 </a:t>
            </a:r>
            <a:r>
              <a:rPr lang="ko-KR" altLang="en-US" dirty="0" err="1"/>
              <a:t>스위칭</a:t>
            </a:r>
            <a:r>
              <a:rPr lang="en-US" altLang="ko-KR" dirty="0"/>
              <a:t>(OS), </a:t>
            </a:r>
            <a:r>
              <a:rPr lang="ko-KR" altLang="en-US" dirty="0"/>
              <a:t>최적화</a:t>
            </a:r>
            <a:r>
              <a:rPr lang="en-US" altLang="ko-KR" dirty="0"/>
              <a:t>/</a:t>
            </a:r>
            <a:r>
              <a:rPr lang="ko-KR" altLang="en-US" dirty="0"/>
              <a:t>레지스터 할당</a:t>
            </a:r>
            <a:r>
              <a:rPr lang="en-US" altLang="ko-KR" dirty="0"/>
              <a:t>(</a:t>
            </a:r>
            <a:r>
              <a:rPr lang="ko-KR" altLang="en-US" dirty="0"/>
              <a:t>컴파일러</a:t>
            </a:r>
            <a:r>
              <a:rPr lang="en-US" altLang="ko-KR" dirty="0"/>
              <a:t>), </a:t>
            </a:r>
            <a:r>
              <a:rPr lang="ko-KR" altLang="en-US" dirty="0"/>
              <a:t>페이지</a:t>
            </a:r>
            <a:r>
              <a:rPr lang="en-US" altLang="ko-KR" dirty="0"/>
              <a:t>·</a:t>
            </a:r>
            <a:r>
              <a:rPr lang="ko-KR" altLang="en-US" dirty="0"/>
              <a:t>인덱스의 메모리 레이아웃</a:t>
            </a:r>
            <a:r>
              <a:rPr lang="en-US" altLang="ko-KR" dirty="0"/>
              <a:t>(DB) </a:t>
            </a:r>
            <a:r>
              <a:rPr lang="ko-KR" altLang="en-US" dirty="0"/>
              <a:t>등 </a:t>
            </a:r>
            <a:r>
              <a:rPr lang="ko-KR" altLang="en-US" b="1" dirty="0"/>
              <a:t>상위 과목 이해력</a:t>
            </a:r>
            <a:r>
              <a:rPr lang="ko-KR" altLang="en-US" dirty="0"/>
              <a:t>이 달라집니다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solidFill>
                  <a:srgbClr val="FFFF00"/>
                </a:solidFill>
              </a:rPr>
              <a:t>클라우드</a:t>
            </a:r>
            <a:r>
              <a:rPr lang="en-US" altLang="ko-KR" dirty="0">
                <a:solidFill>
                  <a:srgbClr val="FFFF00"/>
                </a:solidFill>
              </a:rPr>
              <a:t>·</a:t>
            </a:r>
            <a:r>
              <a:rPr lang="ko-KR" altLang="en-US" dirty="0" err="1">
                <a:solidFill>
                  <a:srgbClr val="FFFF00"/>
                </a:solidFill>
              </a:rPr>
              <a:t>엣지</a:t>
            </a:r>
            <a:r>
              <a:rPr lang="ko-KR" altLang="en-US" dirty="0">
                <a:solidFill>
                  <a:srgbClr val="FFFF00"/>
                </a:solidFill>
              </a:rPr>
              <a:t> 비용</a:t>
            </a:r>
            <a:r>
              <a:rPr lang="en-US" altLang="ko-KR" dirty="0">
                <a:solidFill>
                  <a:srgbClr val="FFFF00"/>
                </a:solidFill>
              </a:rPr>
              <a:t>/</a:t>
            </a:r>
            <a:r>
              <a:rPr lang="ko-KR" altLang="en-US" dirty="0">
                <a:solidFill>
                  <a:srgbClr val="FFFF00"/>
                </a:solidFill>
              </a:rPr>
              <a:t>전력 최적화</a:t>
            </a:r>
          </a:p>
          <a:p>
            <a:pPr lvl="1"/>
            <a:r>
              <a:rPr lang="en-US" altLang="ko-KR" dirty="0"/>
              <a:t>x86 vs ARM, NUMA, </a:t>
            </a:r>
            <a:r>
              <a:rPr lang="ko-KR" altLang="en-US" dirty="0"/>
              <a:t>가상화</a:t>
            </a:r>
            <a:r>
              <a:rPr lang="en-US" altLang="ko-KR" dirty="0"/>
              <a:t>, DVFS·</a:t>
            </a:r>
            <a:r>
              <a:rPr lang="ko-KR" altLang="en-US" dirty="0"/>
              <a:t>전력 곡선 이해는 </a:t>
            </a:r>
            <a:r>
              <a:rPr lang="ko-KR" altLang="en-US" b="1" dirty="0"/>
              <a:t>성능</a:t>
            </a:r>
            <a:r>
              <a:rPr lang="en-US" altLang="ko-KR" b="1" dirty="0"/>
              <a:t>/</a:t>
            </a:r>
            <a:r>
              <a:rPr lang="ko-KR" altLang="en-US" b="1" dirty="0"/>
              <a:t>원가</a:t>
            </a:r>
            <a:r>
              <a:rPr lang="en-US" altLang="ko-KR" b="1" dirty="0"/>
              <a:t>/</a:t>
            </a:r>
            <a:r>
              <a:rPr lang="ko-KR" altLang="en-US" b="1" dirty="0"/>
              <a:t>전력</a:t>
            </a:r>
            <a:r>
              <a:rPr lang="ko-KR" altLang="en-US" dirty="0"/>
              <a:t> 의사결정의 핵심입니다</a:t>
            </a:r>
            <a:r>
              <a:rPr lang="en-US" altLang="ko-KR" dirty="0"/>
              <a:t>.</a:t>
            </a:r>
          </a:p>
          <a:p>
            <a:r>
              <a:rPr lang="en-US" altLang="ko-KR" dirty="0">
                <a:solidFill>
                  <a:srgbClr val="FFFF00"/>
                </a:solidFill>
              </a:rPr>
              <a:t>AI/</a:t>
            </a:r>
            <a:r>
              <a:rPr lang="ko-KR" altLang="en-US" dirty="0">
                <a:solidFill>
                  <a:srgbClr val="FFFF00"/>
                </a:solidFill>
              </a:rPr>
              <a:t>그래픽스 가속기의 실전 활용</a:t>
            </a:r>
          </a:p>
          <a:p>
            <a:pPr lvl="1"/>
            <a:r>
              <a:rPr lang="en-US" altLang="ko-KR" dirty="0"/>
              <a:t>GPU/TPU/NPU</a:t>
            </a:r>
            <a:r>
              <a:rPr lang="ko-KR" altLang="en-US" dirty="0"/>
              <a:t>의 </a:t>
            </a:r>
            <a:r>
              <a:rPr lang="ko-KR" altLang="en-US" dirty="0" err="1"/>
              <a:t>스레딩</a:t>
            </a:r>
            <a:r>
              <a:rPr lang="en-US" altLang="ko-KR" dirty="0"/>
              <a:t>·</a:t>
            </a:r>
            <a:r>
              <a:rPr lang="ko-KR" altLang="en-US" dirty="0"/>
              <a:t>메모리 모델</a:t>
            </a:r>
            <a:r>
              <a:rPr lang="en-US" altLang="ko-KR" dirty="0"/>
              <a:t>, </a:t>
            </a:r>
            <a:r>
              <a:rPr lang="ko-KR" altLang="en-US" dirty="0" err="1"/>
              <a:t>텐서</a:t>
            </a:r>
            <a:r>
              <a:rPr lang="ko-KR" altLang="en-US" dirty="0"/>
              <a:t> 코어 특성</a:t>
            </a:r>
            <a:r>
              <a:rPr lang="en-US" altLang="ko-KR" dirty="0"/>
              <a:t>, </a:t>
            </a:r>
            <a:r>
              <a:rPr lang="ko-KR" altLang="en-US" dirty="0"/>
              <a:t>양자화</a:t>
            </a:r>
            <a:r>
              <a:rPr lang="en-US" altLang="ko-KR" dirty="0"/>
              <a:t>·</a:t>
            </a:r>
            <a:r>
              <a:rPr lang="ko-KR" altLang="en-US" dirty="0"/>
              <a:t>메모리 발자국 등은 </a:t>
            </a:r>
            <a:r>
              <a:rPr lang="ko-KR" altLang="en-US" b="1" dirty="0"/>
              <a:t>추론 속도</a:t>
            </a:r>
            <a:r>
              <a:rPr lang="en-US" altLang="ko-KR" b="1" dirty="0"/>
              <a:t>·</a:t>
            </a:r>
            <a:r>
              <a:rPr lang="ko-KR" altLang="en-US" b="1" dirty="0"/>
              <a:t>지연</a:t>
            </a:r>
            <a:r>
              <a:rPr lang="ko-KR" altLang="en-US" dirty="0"/>
              <a:t>을 좌우합니다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solidFill>
                  <a:srgbClr val="FFFF00"/>
                </a:solidFill>
              </a:rPr>
              <a:t>새로운 아키텍처 시대의 문해력</a:t>
            </a:r>
          </a:p>
          <a:p>
            <a:pPr lvl="1"/>
            <a:r>
              <a:rPr lang="en-US" altLang="ko-KR" dirty="0"/>
              <a:t>RISC-V, </a:t>
            </a:r>
            <a:r>
              <a:rPr lang="ko-KR" altLang="en-US" dirty="0"/>
              <a:t>특수목적 가속기</a:t>
            </a:r>
            <a:r>
              <a:rPr lang="en-US" altLang="ko-KR" dirty="0"/>
              <a:t>, PIM </a:t>
            </a:r>
            <a:r>
              <a:rPr lang="ko-KR" altLang="en-US" dirty="0"/>
              <a:t>등 </a:t>
            </a:r>
            <a:r>
              <a:rPr lang="ko-KR" altLang="en-US" b="1" dirty="0"/>
              <a:t>빠르게 변하는 하드웨어 흐름</a:t>
            </a:r>
            <a:r>
              <a:rPr lang="ko-KR" altLang="en-US" dirty="0"/>
              <a:t>을 읽고 소프트웨어 전략을 세울 수 있습니다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80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3EB5-F9D9-9818-47C0-3B8BFBC7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어쨌든</a:t>
            </a:r>
            <a:r>
              <a:rPr lang="en-US" altLang="ko-KR" dirty="0"/>
              <a:t>! </a:t>
            </a:r>
            <a:r>
              <a:rPr lang="ko-KR" altLang="en-US" dirty="0"/>
              <a:t>우리가 이해하고 만들게 될 </a:t>
            </a:r>
            <a:r>
              <a:rPr lang="ko-KR" altLang="en-US" dirty="0" err="1"/>
              <a:t>컴구조</a:t>
            </a:r>
            <a:r>
              <a:rPr lang="en-US" altLang="ko-KR" dirty="0"/>
              <a:t>!</a:t>
            </a:r>
            <a:endParaRPr lang="en-US" dirty="0"/>
          </a:p>
        </p:txBody>
      </p:sp>
      <p:pic>
        <p:nvPicPr>
          <p:cNvPr id="4" name="Logisim_ main of mips_processor 2023-08-27 21-06-37">
            <a:hlinkClick r:id="" action="ppaction://media"/>
            <a:extLst>
              <a:ext uri="{FF2B5EF4-FFF2-40B4-BE49-F238E27FC236}">
                <a16:creationId xmlns:a16="http://schemas.microsoft.com/office/drawing/2014/main" id="{4DE1EBC1-7BC7-AFD4-1881-B475337E3D89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28663" y="935038"/>
            <a:ext cx="10728325" cy="5699125"/>
          </a:xfrm>
        </p:spPr>
      </p:pic>
    </p:spTree>
    <p:extLst>
      <p:ext uri="{BB962C8B-B14F-4D97-AF65-F5344CB8AC3E}">
        <p14:creationId xmlns:p14="http://schemas.microsoft.com/office/powerpoint/2010/main" val="272004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62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71BA0FCE43CE48AA1573AAA2447CB2" ma:contentTypeVersion="3" ma:contentTypeDescription="Create a new document." ma:contentTypeScope="" ma:versionID="710626649aa11b0653ccc0ec5f309f84">
  <xsd:schema xmlns:xsd="http://www.w3.org/2001/XMLSchema" xmlns:xs="http://www.w3.org/2001/XMLSchema" xmlns:p="http://schemas.microsoft.com/office/2006/metadata/properties" xmlns:ns3="49c626b2-4a72-45fa-a906-da362c826eba" targetNamespace="http://schemas.microsoft.com/office/2006/metadata/properties" ma:root="true" ma:fieldsID="50e988da787bf549b3d63bf12c039940" ns3:_="">
    <xsd:import namespace="49c626b2-4a72-45fa-a906-da362c826eb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c626b2-4a72-45fa-a906-da362c826e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6C2155-C8AA-4382-856F-8E427E1AEFBC}">
  <ds:schemaRefs>
    <ds:schemaRef ds:uri="http://schemas.microsoft.com/office/2006/documentManagement/types"/>
    <ds:schemaRef ds:uri="49c626b2-4a72-45fa-a906-da362c826eba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F8FC9B5-DE66-4D99-A673-DEB1F1CFE4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c626b2-4a72-45fa-a906-da362c826e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405F13-61AE-4539-9F60-9D04D3242BD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462</Words>
  <Application>Microsoft Office PowerPoint</Application>
  <PresentationFormat>와이드스크린</PresentationFormat>
  <Paragraphs>53</Paragraphs>
  <Slides>7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Arial</vt:lpstr>
      <vt:lpstr>Wingdings</vt:lpstr>
      <vt:lpstr>Neue Haas Grotesk Text Pro</vt:lpstr>
      <vt:lpstr>Calibri</vt:lpstr>
      <vt:lpstr>DylanVTI</vt:lpstr>
      <vt:lpstr>컴퓨터 구조 (Computer Architecture)  1주차 - 소개</vt:lpstr>
      <vt:lpstr>교과목 소개: 컴퓨터구조</vt:lpstr>
      <vt:lpstr>수업개요</vt:lpstr>
      <vt:lpstr>성적반영 비율</vt:lpstr>
      <vt:lpstr>교재</vt:lpstr>
      <vt:lpstr>Why Computer Architecture ?</vt:lpstr>
      <vt:lpstr>어쨌든! 우리가 이해하고 만들게 될 컴구조!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컴퓨터 구조 (Computer Architecture)</dc:title>
  <dc:creator>이정근</dc:creator>
  <cp:lastModifiedBy>Jeong-Gun Lee</cp:lastModifiedBy>
  <cp:revision>8</cp:revision>
  <dcterms:created xsi:type="dcterms:W3CDTF">2023-08-27T10:36:07Z</dcterms:created>
  <dcterms:modified xsi:type="dcterms:W3CDTF">2026-08-28T18:33:39Z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0x0101007071BA0FCE43CE48AA1573AAA2447CB2</vt:lpwstr>
  </property>
</Properties>
</file>