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8"/>
  </p:notesMasterIdLst>
  <p:handoutMasterIdLst>
    <p:handoutMasterId r:id="rId19"/>
  </p:handoutMasterIdLst>
  <p:sldIdLst>
    <p:sldId id="921" r:id="rId2"/>
    <p:sldId id="922" r:id="rId3"/>
    <p:sldId id="1159" r:id="rId4"/>
    <p:sldId id="1160" r:id="rId5"/>
    <p:sldId id="984" r:id="rId6"/>
    <p:sldId id="990" r:id="rId7"/>
    <p:sldId id="991" r:id="rId8"/>
    <p:sldId id="913" r:id="rId9"/>
    <p:sldId id="1068" r:id="rId10"/>
    <p:sldId id="1172" r:id="rId11"/>
    <p:sldId id="1078" r:id="rId12"/>
    <p:sldId id="1081" r:id="rId13"/>
    <p:sldId id="1084" r:id="rId14"/>
    <p:sldId id="1086" r:id="rId15"/>
    <p:sldId id="1087" r:id="rId16"/>
    <p:sldId id="1173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5pPr>
    <a:lvl6pPr marL="2286000" algn="l" defTabSz="914400" rtl="0" eaLnBrk="1" latinLnBrk="1" hangingPunct="1"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6pPr>
    <a:lvl7pPr marL="2743200" algn="l" defTabSz="914400" rtl="0" eaLnBrk="1" latinLnBrk="1" hangingPunct="1"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7pPr>
    <a:lvl8pPr marL="3200400" algn="l" defTabSz="914400" rtl="0" eaLnBrk="1" latinLnBrk="1" hangingPunct="1"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8pPr>
    <a:lvl9pPr marL="3657600" algn="l" defTabSz="914400" rtl="0" eaLnBrk="1" latinLnBrk="1" hangingPunct="1">
      <a:defRPr sz="3200" b="1" i="1" kern="1200">
        <a:solidFill>
          <a:schemeClr val="tx1"/>
        </a:solidFill>
        <a:latin typeface="Baby Kruffy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96633"/>
    <a:srgbClr val="00CC00"/>
    <a:srgbClr val="3366FF"/>
    <a:srgbClr val="660066"/>
    <a:srgbClr val="6666FF"/>
    <a:srgbClr val="CC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728" autoAdjust="0"/>
  </p:normalViewPr>
  <p:slideViewPr>
    <p:cSldViewPr>
      <p:cViewPr varScale="1">
        <p:scale>
          <a:sx n="158" d="100"/>
          <a:sy n="158" d="100"/>
        </p:scale>
        <p:origin x="63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>
            <a:extLst>
              <a:ext uri="{FF2B5EF4-FFF2-40B4-BE49-F238E27FC236}">
                <a16:creationId xmlns:a16="http://schemas.microsoft.com/office/drawing/2014/main" id="{DA331DD9-586D-4B58-A060-4E20125C99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900099" name="Rectangle 3">
            <a:extLst>
              <a:ext uri="{FF2B5EF4-FFF2-40B4-BE49-F238E27FC236}">
                <a16:creationId xmlns:a16="http://schemas.microsoft.com/office/drawing/2014/main" id="{7ECB2DD1-D074-4CC8-B111-7B0673DFC3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900100" name="Rectangle 4">
            <a:extLst>
              <a:ext uri="{FF2B5EF4-FFF2-40B4-BE49-F238E27FC236}">
                <a16:creationId xmlns:a16="http://schemas.microsoft.com/office/drawing/2014/main" id="{5C817454-1F2D-4640-A2A7-6581B314911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1.#</a:t>
            </a:r>
          </a:p>
        </p:txBody>
      </p:sp>
      <p:sp>
        <p:nvSpPr>
          <p:cNvPr id="900101" name="Rectangle 5">
            <a:extLst>
              <a:ext uri="{FF2B5EF4-FFF2-40B4-BE49-F238E27FC236}">
                <a16:creationId xmlns:a16="http://schemas.microsoft.com/office/drawing/2014/main" id="{FF77A28F-CF9C-43E7-B2AB-7529056CA76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E1B53C2-0C33-45C7-BC7A-DDAC7FF5B5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>
            <a:extLst>
              <a:ext uri="{FF2B5EF4-FFF2-40B4-BE49-F238E27FC236}">
                <a16:creationId xmlns:a16="http://schemas.microsoft.com/office/drawing/2014/main" id="{9FF0A202-377E-4CDF-B875-76430DEC7B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878595" name="Rectangle 3">
            <a:extLst>
              <a:ext uri="{FF2B5EF4-FFF2-40B4-BE49-F238E27FC236}">
                <a16:creationId xmlns:a16="http://schemas.microsoft.com/office/drawing/2014/main" id="{471C3B1D-566A-47B8-86FD-7FF76DE5DDA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D27A1446-03EC-4485-87C4-60AAFCD703E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8597" name="Rectangle 5">
            <a:extLst>
              <a:ext uri="{FF2B5EF4-FFF2-40B4-BE49-F238E27FC236}">
                <a16:creationId xmlns:a16="http://schemas.microsoft.com/office/drawing/2014/main" id="{5563E2CC-9075-4B6A-9268-21037FDE3BC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78598" name="Rectangle 6">
            <a:extLst>
              <a:ext uri="{FF2B5EF4-FFF2-40B4-BE49-F238E27FC236}">
                <a16:creationId xmlns:a16="http://schemas.microsoft.com/office/drawing/2014/main" id="{418948FE-6010-4F3F-9167-B26A69564F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1.#</a:t>
            </a:r>
          </a:p>
        </p:txBody>
      </p:sp>
      <p:sp>
        <p:nvSpPr>
          <p:cNvPr id="878599" name="Rectangle 7">
            <a:extLst>
              <a:ext uri="{FF2B5EF4-FFF2-40B4-BE49-F238E27FC236}">
                <a16:creationId xmlns:a16="http://schemas.microsoft.com/office/drawing/2014/main" id="{F7DBBBD2-712B-4CBD-922A-620D36D65F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B5A0E24-1337-4029-BDB3-46E515C4545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>
            <a:extLst>
              <a:ext uri="{FF2B5EF4-FFF2-40B4-BE49-F238E27FC236}">
                <a16:creationId xmlns:a16="http://schemas.microsoft.com/office/drawing/2014/main" id="{E9FDCC75-E3CA-4177-9664-D6681D89CA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슬라이드 노트 개체 틀 2">
            <a:extLst>
              <a:ext uri="{FF2B5EF4-FFF2-40B4-BE49-F238E27FC236}">
                <a16:creationId xmlns:a16="http://schemas.microsoft.com/office/drawing/2014/main" id="{1B4D37C9-F3AA-4799-8F44-A8B531D50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496CBE-7050-4C24-BB9F-09B92DFB81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1.#</a:t>
            </a:r>
          </a:p>
        </p:txBody>
      </p:sp>
      <p:sp>
        <p:nvSpPr>
          <p:cNvPr id="62469" name="슬라이드 번호 개체 틀 4">
            <a:extLst>
              <a:ext uri="{FF2B5EF4-FFF2-40B4-BE49-F238E27FC236}">
                <a16:creationId xmlns:a16="http://schemas.microsoft.com/office/drawing/2014/main" id="{9C08AB5F-6F19-491C-8E84-E467D868B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C6D74F-3D52-4B80-8C1F-E8C4C0C6A43A}" type="slidenum">
              <a:rPr lang="en-US" altLang="ko-KR" smtClean="0"/>
              <a:pPr>
                <a:spcBef>
                  <a:spcPct val="0"/>
                </a:spcBef>
              </a:pPr>
              <a:t>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슬라이드 이미지 개체 틀 1">
            <a:extLst>
              <a:ext uri="{FF2B5EF4-FFF2-40B4-BE49-F238E27FC236}">
                <a16:creationId xmlns:a16="http://schemas.microsoft.com/office/drawing/2014/main" id="{564E5F72-38A0-4199-9CDF-B832582283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슬라이드 노트 개체 틀 2">
            <a:extLst>
              <a:ext uri="{FF2B5EF4-FFF2-40B4-BE49-F238E27FC236}">
                <a16:creationId xmlns:a16="http://schemas.microsoft.com/office/drawing/2014/main" id="{C2B103EF-AB09-4277-800C-D9989E67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6D9B5E-AF4B-4BFF-A59B-6C3CCC7A29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1.#</a:t>
            </a:r>
          </a:p>
        </p:txBody>
      </p:sp>
      <p:sp>
        <p:nvSpPr>
          <p:cNvPr id="76805" name="슬라이드 번호 개체 틀 4">
            <a:extLst>
              <a:ext uri="{FF2B5EF4-FFF2-40B4-BE49-F238E27FC236}">
                <a16:creationId xmlns:a16="http://schemas.microsoft.com/office/drawing/2014/main" id="{D04AA777-C8CD-438A-A013-4A6E04F7C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8372956-7C00-458C-9F4D-B8EF0E417327}" type="slidenum">
              <a:rPr lang="en-US" altLang="ko-KR" smtClean="0"/>
              <a:pPr>
                <a:spcBef>
                  <a:spcPct val="0"/>
                </a:spcBef>
              </a:pPr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슬라이드 이미지 개체 틀 1">
            <a:extLst>
              <a:ext uri="{FF2B5EF4-FFF2-40B4-BE49-F238E27FC236}">
                <a16:creationId xmlns:a16="http://schemas.microsoft.com/office/drawing/2014/main" id="{BA396DFD-A15D-476E-A3EC-5321CEB6FF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슬라이드 노트 개체 틀 2">
            <a:extLst>
              <a:ext uri="{FF2B5EF4-FFF2-40B4-BE49-F238E27FC236}">
                <a16:creationId xmlns:a16="http://schemas.microsoft.com/office/drawing/2014/main" id="{BAF2A03E-091C-4D52-9151-766D49F53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BA3B05-504D-4135-9D35-707945CB48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1.#</a:t>
            </a:r>
          </a:p>
        </p:txBody>
      </p:sp>
      <p:sp>
        <p:nvSpPr>
          <p:cNvPr id="78853" name="슬라이드 번호 개체 틀 4">
            <a:extLst>
              <a:ext uri="{FF2B5EF4-FFF2-40B4-BE49-F238E27FC236}">
                <a16:creationId xmlns:a16="http://schemas.microsoft.com/office/drawing/2014/main" id="{5D6DADF7-0879-434A-9559-C1B21C7A9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E6ED3D-CB7B-4308-8A4D-D7B9919F92C9}" type="slidenum">
              <a:rPr lang="en-US" altLang="ko-KR" smtClean="0"/>
              <a:pPr>
                <a:spcBef>
                  <a:spcPct val="0"/>
                </a:spcBef>
              </a:pPr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4">
            <a:extLst>
              <a:ext uri="{FF2B5EF4-FFF2-40B4-BE49-F238E27FC236}">
                <a16:creationId xmlns:a16="http://schemas.microsoft.com/office/drawing/2014/main" id="{D21F203A-03C6-4446-9DD0-048730CAE33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81063" y="109538"/>
            <a:ext cx="66675" cy="74612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6777B5FA-535B-452E-BF88-9B7D0AA47A0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81063" y="338138"/>
            <a:ext cx="66675" cy="74612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C00D9349-F9A9-4FE7-B67F-83A885CEBDC0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81063" y="565150"/>
            <a:ext cx="66675" cy="74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D345BBD-D9D1-4BD3-BE82-BF0606FB8429}"/>
              </a:ext>
            </a:extLst>
          </p:cNvPr>
          <p:cNvGrpSpPr>
            <a:grpSpLocks/>
          </p:cNvGrpSpPr>
          <p:nvPr/>
        </p:nvGrpSpPr>
        <p:grpSpPr bwMode="auto">
          <a:xfrm>
            <a:off x="4538663" y="6661150"/>
            <a:ext cx="4332287" cy="74613"/>
            <a:chOff x="2859" y="4202"/>
            <a:chExt cx="2729" cy="41"/>
          </a:xfrm>
        </p:grpSpPr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A2062F4D-5DDC-49F8-A8AC-30914877E0D9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859" y="4202"/>
              <a:ext cx="42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C49F2083-5642-452D-825C-C78C303E7F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243" y="4202"/>
              <a:ext cx="42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91D63372-91F4-4326-9613-264E2841D15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627" y="4202"/>
              <a:ext cx="41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3A0ABE36-6159-4F22-82C9-1D3812C4752D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4011" y="4202"/>
              <a:ext cx="41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AC8785AC-5489-4784-A57C-73C5E161961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4395" y="4202"/>
              <a:ext cx="42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6F0D32CD-245E-42AD-80DE-C3EE0EA056B9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4779" y="4202"/>
              <a:ext cx="42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8406DD4E-F1D3-4D29-98AB-A18876A83FBF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5163" y="4202"/>
              <a:ext cx="42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938393CD-688E-45B8-970F-A88092919A60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5547" y="4202"/>
              <a:ext cx="41" cy="41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1pPr>
              <a:lvl2pPr marL="742950" indent="-28575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2pPr>
              <a:lvl3pPr marL="11430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3pPr>
              <a:lvl4pPr marL="16002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4pPr>
              <a:lvl5pPr marL="2057400" indent="-228600" eaLnBrk="0" hangingPunct="0"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i="1">
                  <a:solidFill>
                    <a:schemeClr val="tx1"/>
                  </a:solidFill>
                  <a:latin typeface="Baby Kruffy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/>
            </a:p>
          </p:txBody>
        </p:sp>
      </p:grpSp>
      <p:sp>
        <p:nvSpPr>
          <p:cNvPr id="16" name="Oval 16">
            <a:extLst>
              <a:ext uri="{FF2B5EF4-FFF2-40B4-BE49-F238E27FC236}">
                <a16:creationId xmlns:a16="http://schemas.microsoft.com/office/drawing/2014/main" id="{DC29292D-5C8D-4832-852F-0EB0252E304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81063" y="793750"/>
            <a:ext cx="66675" cy="74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A3A3C4AA-AEFE-465F-9189-8836E3F6DE7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90588" y="1047750"/>
            <a:ext cx="66675" cy="74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8" name="Oval 36">
            <a:extLst>
              <a:ext uri="{FF2B5EF4-FFF2-40B4-BE49-F238E27FC236}">
                <a16:creationId xmlns:a16="http://schemas.microsoft.com/office/drawing/2014/main" id="{014E2679-5009-41EF-BF6D-D733BD12B51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90588" y="1276350"/>
            <a:ext cx="66675" cy="74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9" name="Oval 37">
            <a:extLst>
              <a:ext uri="{FF2B5EF4-FFF2-40B4-BE49-F238E27FC236}">
                <a16:creationId xmlns:a16="http://schemas.microsoft.com/office/drawing/2014/main" id="{D0DFE720-90DD-43D8-947D-391AB2CAE74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90588" y="1503363"/>
            <a:ext cx="66675" cy="74612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20" name="Oval 38">
            <a:extLst>
              <a:ext uri="{FF2B5EF4-FFF2-40B4-BE49-F238E27FC236}">
                <a16:creationId xmlns:a16="http://schemas.microsoft.com/office/drawing/2014/main" id="{4500112F-6740-4ED0-B3AE-7E70F0C5EEF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90588" y="1731963"/>
            <a:ext cx="66675" cy="74612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43381" name="Rectangle 2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marL="0" indent="0">
              <a:buNone/>
              <a:defRPr sz="44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43382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057400" y="4114800"/>
            <a:ext cx="6400800" cy="1752600"/>
          </a:xfrm>
        </p:spPr>
        <p:txBody>
          <a:bodyPr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E729B65A-6858-4AB9-912F-3E39ECF7345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B909248-F06C-455C-B612-16B87855E46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43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>
            <a:extLst>
              <a:ext uri="{FF2B5EF4-FFF2-40B4-BE49-F238E27FC236}">
                <a16:creationId xmlns:a16="http://schemas.microsoft.com/office/drawing/2014/main" id="{27408534-F56F-4D48-B498-68037511B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55575"/>
            <a:ext cx="228600" cy="609600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Line 16">
            <a:extLst>
              <a:ext uri="{FF2B5EF4-FFF2-40B4-BE49-F238E27FC236}">
                <a16:creationId xmlns:a16="http://schemas.microsoft.com/office/drawing/2014/main" id="{BF4AFE79-F8A2-4A20-AC61-5622B6616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963" y="765175"/>
            <a:ext cx="7991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8021" y="130919"/>
            <a:ext cx="9144000" cy="595313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1805" y="908720"/>
            <a:ext cx="8670676" cy="54726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16639F29-2160-45F0-8989-729984E2CD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10425" y="65341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AB67F-69DA-4566-9D5E-C95E757E29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119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297662C-2376-4529-94E2-F6ABEC867B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ADBF3286-85A5-46CC-86CD-B301D3D61C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C0C44DCB-554C-4681-98E7-ADF21608AD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3F16D-CEB4-44CD-8F13-05E082E858D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31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9763" y="1550988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02163" y="1550988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C4E84CE-364A-437C-9851-582EAF3046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D97CBA96-7D89-4DC2-B404-E0F45D9F0F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CB35E7F7-A891-4668-8713-8AD54FD2E9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36AA0-A9A4-4C3A-ACD2-477057F8A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601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05CD0FEA-6A47-4E89-B94E-4652699437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25907AFB-B8BD-44B4-8583-9B374D0E81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77BF06CE-7014-4E6E-87EB-A2BEA84D2E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73A53-ECCA-4A78-82CD-4A505FF70BB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66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F52232E9-E4B8-4025-BC5E-16FF7186A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4FAF8B1B-875D-42CA-8A79-196C2C014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2E57B5FF-4D60-4D89-B163-1E1495C608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B61B62-8FCF-4682-B3E2-03F8D263570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08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1D137E8F-DC7E-48E0-834F-9DF310DD59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DAD6D0AA-7E9C-4134-AF54-1CC4D471B3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CD59D7C9-CC9C-4A19-9588-703547F711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E054CC-0890-4E61-A196-DFBD1584E2F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001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8326EE0-7415-45E1-BA4A-7746A6944B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263B8D9A-EABA-4759-877D-D8D67D4F62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73FC3C0B-5C08-4C26-9441-65CC82CC2C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6DBA6-0EFE-4631-9C45-23B0BD13EE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82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5615CFE0-C96A-4F39-8316-A85D3050DC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467BABCD-6052-4815-908F-7A1357B081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B899781B-C3B5-477D-A68C-57D8EEFD38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2972D-8479-471B-AFDF-47210F12F7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4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5DDE4A57-5427-41B7-AC29-837A848651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487A5444-5167-4054-B62E-5B5690EE29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37E2F961-D47D-4B6E-B9AD-7E120B8D24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B263A-E821-40B3-B895-CA7FAADB002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11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43725" y="466725"/>
            <a:ext cx="2286000" cy="55038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5725" y="466725"/>
            <a:ext cx="6705600" cy="55038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10C3BD4B-DCB3-471C-8BF3-D39E1E2B82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438D79E0-B8B1-4057-BAFB-B53D309FBE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C981FB69-BC3A-45EF-A3DF-F0B661BC40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0BC64-0D26-49B8-A9F0-433874A0375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10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5725" y="466725"/>
            <a:ext cx="9144000" cy="59531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39763" y="1550988"/>
            <a:ext cx="3810000" cy="4419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02163" y="1550988"/>
            <a:ext cx="3810000" cy="4419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30F395F-7B3B-4718-B368-2D18734A23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572250"/>
            <a:ext cx="19050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8A7E26E4-A9A3-4371-8D97-D3E186B0C4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C98930B2-0E43-4E3D-B833-678B64AB9C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D0019-F2B2-403B-9A2A-E34E70E35C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876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6323595-E5D9-4F9F-A8FE-A6AC2B9A6B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30DBEE4-5F4A-410E-AE77-95F82299B9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E4116-7BD0-4442-AFDD-D565E69429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972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제목 및 다이어그램 또는 조직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SmartArt 개체 틀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noProof="0"/>
              <a:t>SmartArt </a:t>
            </a:r>
            <a:r>
              <a:rPr lang="ko-KR" altLang="en-US" noProof="0"/>
              <a:t>그래픽을 추가하려면 아이콘을 클릭하십시오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3DE1414-9C23-484F-87CE-46E418D771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72250"/>
            <a:ext cx="2895600" cy="45720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E0AB39A-EC37-4850-A0A9-2625881811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59980-8D0C-48F4-8146-55D0F64C078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338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0B792626-D6C9-41EE-A1E5-EAE7F9050FDD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0" y="6572250"/>
            <a:ext cx="9144000" cy="285750"/>
          </a:xfrm>
          <a:prstGeom prst="rect">
            <a:avLst/>
          </a:prstGeom>
          <a:solidFill>
            <a:srgbClr val="3366CC"/>
          </a:solidFill>
          <a:ln>
            <a:noFill/>
          </a:ln>
          <a:effectLst>
            <a:prstShdw prst="shdw17" dist="17961" dir="2700000">
              <a:srgbClr val="1F3D7A"/>
            </a:prstShdw>
          </a:effectLst>
        </p:spPr>
        <p:txBody>
          <a:bodyPr/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42353" name="Rectangle 17">
            <a:extLst>
              <a:ext uri="{FF2B5EF4-FFF2-40B4-BE49-F238E27FC236}">
                <a16:creationId xmlns:a16="http://schemas.microsoft.com/office/drawing/2014/main" id="{C2991A01-3FF7-4336-AAFB-A5FF17C5B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725" y="466725"/>
            <a:ext cx="91440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유형 편집</a:t>
            </a:r>
          </a:p>
        </p:txBody>
      </p:sp>
      <p:sp>
        <p:nvSpPr>
          <p:cNvPr id="1028" name="Rectangle 18">
            <a:extLst>
              <a:ext uri="{FF2B5EF4-FFF2-40B4-BE49-F238E27FC236}">
                <a16:creationId xmlns:a16="http://schemas.microsoft.com/office/drawing/2014/main" id="{6788B0B9-DAE1-4268-A06E-B3C5A9980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268413"/>
            <a:ext cx="8569325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문자열 유형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142357" name="Rectangle 21">
            <a:extLst>
              <a:ext uri="{FF2B5EF4-FFF2-40B4-BE49-F238E27FC236}">
                <a16:creationId xmlns:a16="http://schemas.microsoft.com/office/drawing/2014/main" id="{450A5A0A-9221-4BCF-B8E5-7CFEC55855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18363" y="6548438"/>
            <a:ext cx="1905000" cy="30956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50000"/>
              </a:spcBef>
              <a:defRPr sz="1600">
                <a:solidFill>
                  <a:schemeClr val="bg1"/>
                </a:solidFill>
                <a:latin typeface="Berlin Sans FB" panose="020E0602020502020306" pitchFamily="34" charset="0"/>
              </a:defRPr>
            </a:lvl1pPr>
          </a:lstStyle>
          <a:p>
            <a:pPr>
              <a:defRPr/>
            </a:pPr>
            <a:fld id="{D187D068-5FE2-4158-BC00-76E722AFE07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1031" name="Text Box 28">
            <a:extLst>
              <a:ext uri="{FF2B5EF4-FFF2-40B4-BE49-F238E27FC236}">
                <a16:creationId xmlns:a16="http://schemas.microsoft.com/office/drawing/2014/main" id="{904F6644-6318-40C5-B923-8FBB7998B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2863" y="0"/>
            <a:ext cx="184151" cy="3127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1pPr>
            <a:lvl2pPr marL="742950" indent="-285750" eaLnBrk="0" hangingPunct="0"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2pPr>
            <a:lvl3pPr marL="11430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3pPr>
            <a:lvl4pPr marL="16002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4pPr>
            <a:lvl5pPr marL="2057400" indent="-228600" eaLnBrk="0" hangingPunct="0"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latin typeface="Baby Kruffy"/>
                <a:cs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endParaRPr lang="en-US" altLang="ko-KR" sz="1600">
              <a:solidFill>
                <a:schemeClr val="bg1"/>
              </a:solidFill>
              <a:latin typeface="Berlin Sans FB" pitchFamily="34" charset="0"/>
            </a:endParaRPr>
          </a:p>
        </p:txBody>
      </p:sp>
      <p:sp>
        <p:nvSpPr>
          <p:cNvPr id="1032" name="Freeform 37">
            <a:extLst>
              <a:ext uri="{FF2B5EF4-FFF2-40B4-BE49-F238E27FC236}">
                <a16:creationId xmlns:a16="http://schemas.microsoft.com/office/drawing/2014/main" id="{4A141FF7-54BF-47AC-A9D5-E9449F3D1C74}"/>
              </a:ext>
            </a:extLst>
          </p:cNvPr>
          <p:cNvSpPr>
            <a:spLocks/>
          </p:cNvSpPr>
          <p:nvPr/>
        </p:nvSpPr>
        <p:spPr bwMode="auto">
          <a:xfrm>
            <a:off x="6332538" y="6781800"/>
            <a:ext cx="249237" cy="76200"/>
          </a:xfrm>
          <a:custGeom>
            <a:avLst/>
            <a:gdLst>
              <a:gd name="T0" fmla="*/ 0 w 157"/>
              <a:gd name="T1" fmla="*/ 2147483646 h 51"/>
              <a:gd name="T2" fmla="*/ 2147483646 w 157"/>
              <a:gd name="T3" fmla="*/ 2147483646 h 51"/>
              <a:gd name="T4" fmla="*/ 2147483646 w 157"/>
              <a:gd name="T5" fmla="*/ 2147483646 h 51"/>
              <a:gd name="T6" fmla="*/ 2147483646 w 157"/>
              <a:gd name="T7" fmla="*/ 2147483646 h 51"/>
              <a:gd name="T8" fmla="*/ 2147483646 w 157"/>
              <a:gd name="T9" fmla="*/ 0 h 51"/>
              <a:gd name="T10" fmla="*/ 0 w 157"/>
              <a:gd name="T11" fmla="*/ 2147483646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57" h="51">
                <a:moveTo>
                  <a:pt x="0" y="51"/>
                </a:moveTo>
                <a:lnTo>
                  <a:pt x="157" y="51"/>
                </a:lnTo>
                <a:lnTo>
                  <a:pt x="157" y="1"/>
                </a:lnTo>
                <a:lnTo>
                  <a:pt x="79" y="43"/>
                </a:lnTo>
                <a:lnTo>
                  <a:pt x="1" y="0"/>
                </a:lnTo>
                <a:lnTo>
                  <a:pt x="0" y="51"/>
                </a:lnTo>
                <a:close/>
              </a:path>
            </a:pathLst>
          </a:custGeom>
          <a:solidFill>
            <a:srgbClr val="3366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  <p:sldLayoutId id="2147484195" r:id="rId13"/>
    <p:sldLayoutId id="2147484196" r:id="rId14"/>
  </p:sldLayoutIdLst>
  <p:hf hdr="0" ftr="0" dt="0"/>
  <p:txStyles>
    <p:titleStyle>
      <a:lvl1pPr marL="571500" indent="-571500" algn="l" rtl="0" eaLnBrk="0" fontAlgn="base" latinLnBrk="1" hangingPunct="0">
        <a:spcBef>
          <a:spcPct val="0"/>
        </a:spcBef>
        <a:spcAft>
          <a:spcPct val="0"/>
        </a:spcAft>
        <a:buFont typeface="HY견고딕" panose="02030600000101010101" pitchFamily="18" charset="-127"/>
        <a:buChar char="▣"/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  <a:cs typeface="+mj-cs"/>
        </a:defRPr>
      </a:lvl1pPr>
      <a:lvl2pPr marL="571500" indent="-571500" algn="l" rtl="0" eaLnBrk="0" fontAlgn="base" latinLnBrk="1" hangingPunct="0">
        <a:spcBef>
          <a:spcPct val="0"/>
        </a:spcBef>
        <a:spcAft>
          <a:spcPct val="0"/>
        </a:spcAft>
        <a:buFont typeface="HY견고딕" panose="02030600000101010101" pitchFamily="18" charset="-127"/>
        <a:buChar char="▣"/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2pPr>
      <a:lvl3pPr marL="571500" indent="-571500" algn="l" rtl="0" eaLnBrk="0" fontAlgn="base" latinLnBrk="1" hangingPunct="0">
        <a:spcBef>
          <a:spcPct val="0"/>
        </a:spcBef>
        <a:spcAft>
          <a:spcPct val="0"/>
        </a:spcAft>
        <a:buFont typeface="HY견고딕" panose="02030600000101010101" pitchFamily="18" charset="-127"/>
        <a:buChar char="▣"/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3pPr>
      <a:lvl4pPr marL="571500" indent="-571500" algn="l" rtl="0" eaLnBrk="0" fontAlgn="base" latinLnBrk="1" hangingPunct="0">
        <a:spcBef>
          <a:spcPct val="0"/>
        </a:spcBef>
        <a:spcAft>
          <a:spcPct val="0"/>
        </a:spcAft>
        <a:buFont typeface="HY견고딕" panose="02030600000101010101" pitchFamily="18" charset="-127"/>
        <a:buChar char="▣"/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4pPr>
      <a:lvl5pPr marL="571500" indent="-571500" algn="l" rtl="0" eaLnBrk="0" fontAlgn="base" latinLnBrk="1" hangingPunct="0">
        <a:spcBef>
          <a:spcPct val="0"/>
        </a:spcBef>
        <a:spcAft>
          <a:spcPct val="0"/>
        </a:spcAft>
        <a:buFont typeface="HY견고딕" panose="02030600000101010101" pitchFamily="18" charset="-127"/>
        <a:buChar char="▣"/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휴먼엑스포" pitchFamily="18" charset="-127"/>
          <a:ea typeface="휴먼엑스포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휴먼엑스포" pitchFamily="18" charset="-127"/>
          <a:ea typeface="휴먼엑스포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휴먼엑스포" pitchFamily="18" charset="-127"/>
          <a:ea typeface="휴먼엑스포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휴먼엑스포" pitchFamily="18" charset="-127"/>
          <a:ea typeface="휴먼엑스포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Webdings" panose="05030102010509060703" pitchFamily="18" charset="2"/>
        <a:buChar char="&lt;"/>
        <a:defRPr kumimoji="1" sz="24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휴먼모음T" pitchFamily="18" charset="-127"/>
          <a:ea typeface="휴먼모음T" pitchFamily="18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휴먼모음T" pitchFamily="18" charset="-127"/>
          <a:ea typeface="휴먼모음T" pitchFamily="18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휴먼모음T" pitchFamily="18" charset="-127"/>
          <a:ea typeface="휴먼모음T" pitchFamily="18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Times New Roman" pitchFamily="18" charset="0"/>
          <a:ea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Times New Roman" pitchFamily="18" charset="0"/>
          <a:ea typeface="굴림" pitchFamily="50" charset="-127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Times New Roman" pitchFamily="18" charset="0"/>
          <a:ea typeface="굴림" pitchFamily="50" charset="-127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Times New Roman" pitchFamily="18" charset="0"/>
          <a:ea typeface="굴림" pitchFamily="50" charset="-127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Times New Roman" pitchFamily="18" charset="0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F9D2F-A6C5-4659-ABB7-48179532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547100" cy="5953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링크의 두 가지 유형은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8A291785-100D-4EED-A7E8-3A81964FEE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538" y="1143000"/>
            <a:ext cx="8602662" cy="42735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</a:rPr>
              <a:t>점</a:t>
            </a:r>
            <a:r>
              <a:rPr lang="en-US" altLang="ko-KR" dirty="0">
                <a:solidFill>
                  <a:srgbClr val="FF0000"/>
                </a:solidFill>
              </a:rPr>
              <a:t>-</a:t>
            </a:r>
            <a:r>
              <a:rPr lang="ko-KR" altLang="en-US" dirty="0">
                <a:solidFill>
                  <a:srgbClr val="FF0000"/>
                </a:solidFill>
              </a:rPr>
              <a:t>대</a:t>
            </a:r>
            <a:r>
              <a:rPr lang="en-US" altLang="ko-KR" dirty="0">
                <a:solidFill>
                  <a:srgbClr val="FF0000"/>
                </a:solidFill>
              </a:rPr>
              <a:t>-</a:t>
            </a:r>
            <a:r>
              <a:rPr lang="ko-KR" altLang="en-US" dirty="0">
                <a:solidFill>
                  <a:srgbClr val="FF0000"/>
                </a:solidFill>
              </a:rPr>
              <a:t>점 링크</a:t>
            </a:r>
            <a:r>
              <a:rPr lang="ko-KR" altLang="en-US" dirty="0"/>
              <a:t>에서 링크는 서로 연결된 두 개의 장치가 전용으로 사용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</a:rPr>
              <a:t>브로드캐스트 링크</a:t>
            </a:r>
            <a:r>
              <a:rPr lang="ko-KR" altLang="en-US" dirty="0"/>
              <a:t>에서 링크는 여러 개의 장치 쌍 사이에서 공유</a:t>
            </a:r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1C8402D1-8CF1-4CAF-ACC1-E00EBAF6F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B6CFAD95-0772-4690-9381-D2F5801B3F22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06CA6-079C-427A-96D6-E8D68FF72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242300" cy="5953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두 개의 부계층은 각각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D3B15560-BABC-4A24-97A3-C8E1B116BF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3988" y="1295400"/>
            <a:ext cx="8670925" cy="3892550"/>
          </a:xfrm>
        </p:spPr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데이터 링크 제어</a:t>
            </a:r>
            <a:r>
              <a:rPr lang="en-US" altLang="ko-KR" dirty="0">
                <a:solidFill>
                  <a:srgbClr val="FF0000"/>
                </a:solidFill>
              </a:rPr>
              <a:t>(Data Link Control: DLC)</a:t>
            </a:r>
            <a:r>
              <a:rPr lang="en-US" altLang="ko-KR" dirty="0"/>
              <a:t> : </a:t>
            </a:r>
            <a:r>
              <a:rPr lang="ko-KR" altLang="en-US" dirty="0"/>
              <a:t>점</a:t>
            </a:r>
            <a:r>
              <a:rPr lang="en-US" altLang="ko-KR" dirty="0"/>
              <a:t>-</a:t>
            </a:r>
            <a:r>
              <a:rPr lang="ko-KR" altLang="en-US" dirty="0"/>
              <a:t>대</a:t>
            </a:r>
            <a:r>
              <a:rPr lang="en-US" altLang="ko-KR" dirty="0"/>
              <a:t>-</a:t>
            </a:r>
            <a:r>
              <a:rPr lang="ko-KR" altLang="en-US" dirty="0"/>
              <a:t>점과 브로드캐스트 링크에 연관된 공통 사항을 다룸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매체 접근 제어</a:t>
            </a:r>
            <a:r>
              <a:rPr lang="en-US" altLang="ko-KR" dirty="0">
                <a:solidFill>
                  <a:srgbClr val="FF0000"/>
                </a:solidFill>
              </a:rPr>
              <a:t>(Media Access Control: MAC)</a:t>
            </a:r>
            <a:r>
              <a:rPr lang="en-US" altLang="ko-KR" dirty="0"/>
              <a:t>: </a:t>
            </a:r>
            <a:r>
              <a:rPr lang="ko-KR" altLang="en-US" dirty="0" err="1"/>
              <a:t>브로드캐스트와</a:t>
            </a:r>
            <a:r>
              <a:rPr lang="ko-KR" altLang="en-US" dirty="0"/>
              <a:t> 관련된 특별한 사항을 다룸</a:t>
            </a:r>
          </a:p>
          <a:p>
            <a:endParaRPr lang="ko-KR" altLang="en-US" dirty="0"/>
          </a:p>
        </p:txBody>
      </p:sp>
      <p:sp>
        <p:nvSpPr>
          <p:cNvPr id="25604" name="슬라이드 번호 개체 틀 3">
            <a:extLst>
              <a:ext uri="{FF2B5EF4-FFF2-40B4-BE49-F238E27FC236}">
                <a16:creationId xmlns:a16="http://schemas.microsoft.com/office/drawing/2014/main" id="{BA11DE7E-6336-4355-B007-47EBFA2E9A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479AE1FF-4FD4-4978-B404-4161668C71D9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2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BD8E80-3159-3A27-7FC9-B86D03106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38600"/>
            <a:ext cx="8326856" cy="220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0B725-6EF2-47E1-B14C-A63CBB0BC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1661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3.2.1 </a:t>
            </a:r>
            <a:r>
              <a:rPr lang="ko-KR" altLang="en-US" dirty="0"/>
              <a:t>프레임 짜기</a:t>
            </a:r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41909FBD-8394-4CC0-8B0C-81947E4BB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r>
              <a:rPr lang="ko-KR" altLang="en-US" dirty="0"/>
              <a:t>비트 중심 프로토콜</a:t>
            </a:r>
          </a:p>
          <a:p>
            <a:pPr lvl="1" eaLnBrk="1" hangingPunct="1">
              <a:buFont typeface="휴먼엑스포" pitchFamily="18" charset="-127"/>
              <a:buChar char="-"/>
              <a:defRPr/>
            </a:pPr>
            <a:r>
              <a:rPr lang="ko-KR" altLang="en-US" dirty="0"/>
              <a:t>플래그는</a:t>
            </a:r>
            <a:r>
              <a:rPr lang="en-US" altLang="ko-KR" dirty="0"/>
              <a:t>“01111110”</a:t>
            </a:r>
            <a:r>
              <a:rPr lang="ko-KR" altLang="en-US" dirty="0"/>
              <a:t>비트 패턴 사용</a:t>
            </a:r>
            <a:endParaRPr lang="en-US" altLang="ko-KR" dirty="0"/>
          </a:p>
          <a:p>
            <a:pPr lvl="1" eaLnBrk="1" hangingPunct="1">
              <a:buFont typeface="휴먼엑스포" pitchFamily="18" charset="-127"/>
              <a:buChar char="-"/>
              <a:defRPr/>
            </a:pPr>
            <a:r>
              <a:rPr lang="ko-KR" altLang="en-US" dirty="0"/>
              <a:t>플래그와 같은 비트열이 데이터에 나타날 수 있다</a:t>
            </a:r>
            <a:r>
              <a:rPr lang="en-US" altLang="ko-KR" dirty="0"/>
              <a:t>. → </a:t>
            </a:r>
            <a:r>
              <a:rPr lang="ko-KR" altLang="en-US" dirty="0"/>
              <a:t>오류 발생</a:t>
            </a:r>
          </a:p>
          <a:p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이러한 오류를 발생시키지 않기 위한 기술은</a:t>
            </a:r>
            <a:r>
              <a:rPr lang="en-US" altLang="ko-KR" dirty="0"/>
              <a:t>?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비트 채우기와 빼기</a:t>
            </a:r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60634123-430F-4137-AA83-FE533857A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3FC85939-2725-4967-8337-BA4C766040FE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3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  <p:pic>
        <p:nvPicPr>
          <p:cNvPr id="32773" name="Picture 2" descr="An illustration of a frame in a bit-oriented protocol.">
            <a:extLst>
              <a:ext uri="{FF2B5EF4-FFF2-40B4-BE49-F238E27FC236}">
                <a16:creationId xmlns:a16="http://schemas.microsoft.com/office/drawing/2014/main" id="{5568F009-E816-4494-8031-6094ECA84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2514600"/>
            <a:ext cx="841375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196C4-27C7-4A6E-8DDA-C55FF724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3185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3.2.1 </a:t>
            </a:r>
            <a:r>
              <a:rPr lang="ko-KR" altLang="en-US" dirty="0"/>
              <a:t>프레임 짜기</a:t>
            </a:r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27BC72DD-A7EA-46EC-829C-E0D6EBB16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r>
              <a:rPr lang="ko-KR" altLang="en-US" dirty="0"/>
              <a:t>비트 채우기와 빼기</a:t>
            </a:r>
            <a:endParaRPr lang="en-US" altLang="ko-KR" dirty="0"/>
          </a:p>
          <a:p>
            <a:r>
              <a:rPr lang="ko-KR" altLang="en-US" dirty="0"/>
              <a:t>보낼 데이터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00110111101111111000111110011111100</a:t>
            </a:r>
          </a:p>
          <a:p>
            <a:r>
              <a:rPr lang="ko-KR" altLang="en-US" dirty="0"/>
              <a:t>송신 데이터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001101111011111</a:t>
            </a:r>
            <a:r>
              <a:rPr lang="en-US" altLang="ko-KR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1100011111</a:t>
            </a:r>
            <a:r>
              <a:rPr lang="en-US" altLang="ko-KR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0011111</a:t>
            </a:r>
            <a:r>
              <a:rPr lang="en-US" altLang="ko-KR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100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3796" name="슬라이드 번호 개체 틀 3">
            <a:extLst>
              <a:ext uri="{FF2B5EF4-FFF2-40B4-BE49-F238E27FC236}">
                <a16:creationId xmlns:a16="http://schemas.microsoft.com/office/drawing/2014/main" id="{9F9F6A57-31D7-4302-B70B-B38908BD3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FF320E81-4A4B-4BDF-A2C1-7F553F2493F2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4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15F57-7797-4835-B3BD-5E3CAF1F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9144000" cy="5953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선형 블록 코드</a:t>
            </a:r>
          </a:p>
        </p:txBody>
      </p:sp>
      <p:sp>
        <p:nvSpPr>
          <p:cNvPr id="61443" name="내용 개체 틀 2">
            <a:extLst>
              <a:ext uri="{FF2B5EF4-FFF2-40B4-BE49-F238E27FC236}">
                <a16:creationId xmlns:a16="http://schemas.microsoft.com/office/drawing/2014/main" id="{51096847-C435-4FD3-A1AC-53B650C4FF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r>
              <a:rPr lang="ko-KR" altLang="en-US" dirty="0"/>
              <a:t>선형 블록 코드</a:t>
            </a:r>
            <a:r>
              <a:rPr lang="en-US" altLang="ko-KR" dirty="0"/>
              <a:t>(Linear block code): </a:t>
            </a:r>
            <a:r>
              <a:rPr lang="ko-KR" altLang="en-US" dirty="0"/>
              <a:t>두 유효한 </a:t>
            </a:r>
            <a:r>
              <a:rPr lang="ko-KR" altLang="en-US" dirty="0" err="1"/>
              <a:t>코드워드에</a:t>
            </a:r>
            <a:r>
              <a:rPr lang="ko-KR" altLang="en-US" dirty="0"/>
              <a:t> 대해 </a:t>
            </a:r>
            <a:r>
              <a:rPr lang="en-US" altLang="ko-KR" dirty="0"/>
              <a:t>XOR </a:t>
            </a:r>
            <a:r>
              <a:rPr lang="ko-KR" altLang="en-US" dirty="0"/>
              <a:t>연산을 하면 다른 유효한 </a:t>
            </a:r>
            <a:r>
              <a:rPr lang="ko-KR" altLang="en-US" dirty="0" err="1"/>
              <a:t>코드워드를</a:t>
            </a:r>
            <a:r>
              <a:rPr lang="ko-KR" altLang="en-US" dirty="0"/>
              <a:t> 생성하는 코드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예제 </a:t>
            </a:r>
            <a:r>
              <a:rPr lang="en-US" altLang="ko-KR" dirty="0"/>
              <a:t>3.5 : 표 3.1에 </a:t>
            </a:r>
            <a:r>
              <a:rPr lang="ko-KR" altLang="en-US" dirty="0"/>
              <a:t>있는 코드는</a:t>
            </a:r>
            <a:r>
              <a:rPr lang="en-US" altLang="ko-KR" dirty="0"/>
              <a:t> </a:t>
            </a:r>
            <a:r>
              <a:rPr lang="en-US" altLang="ko-KR" dirty="0" err="1"/>
              <a:t>임의의</a:t>
            </a:r>
            <a:r>
              <a:rPr lang="en-US" altLang="ko-KR" dirty="0"/>
              <a:t> </a:t>
            </a:r>
            <a:r>
              <a:rPr lang="en-US" altLang="ko-KR" dirty="0" err="1"/>
              <a:t>코드워드를</a:t>
            </a:r>
            <a:r>
              <a:rPr lang="en-US" altLang="ko-KR" dirty="0"/>
              <a:t> </a:t>
            </a:r>
            <a:r>
              <a:rPr lang="en-US" altLang="ko-KR" dirty="0" err="1"/>
              <a:t>다른</a:t>
            </a:r>
            <a:r>
              <a:rPr lang="en-US" altLang="ko-KR" dirty="0"/>
              <a:t> </a:t>
            </a:r>
            <a:r>
              <a:rPr lang="en-US" altLang="ko-KR" dirty="0" err="1"/>
              <a:t>코드워드와</a:t>
            </a:r>
            <a:r>
              <a:rPr lang="en-US" altLang="ko-KR" dirty="0"/>
              <a:t> XOR </a:t>
            </a:r>
            <a:r>
              <a:rPr lang="en-US" altLang="ko-KR" dirty="0" err="1"/>
              <a:t>연산을</a:t>
            </a:r>
            <a:r>
              <a:rPr lang="en-US" altLang="ko-KR" dirty="0"/>
              <a:t> </a:t>
            </a:r>
            <a:r>
              <a:rPr lang="ko-KR" altLang="en-US" dirty="0"/>
              <a:t>하</a:t>
            </a:r>
            <a:r>
              <a:rPr lang="en-US" altLang="ko-KR" dirty="0"/>
              <a:t>면 </a:t>
            </a:r>
            <a:r>
              <a:rPr lang="en-US" altLang="ko-KR" dirty="0" err="1"/>
              <a:t>다른</a:t>
            </a:r>
            <a:r>
              <a:rPr lang="en-US" altLang="ko-KR" dirty="0"/>
              <a:t> </a:t>
            </a:r>
            <a:r>
              <a:rPr lang="en-US" altLang="ko-KR" dirty="0" err="1"/>
              <a:t>유효</a:t>
            </a:r>
            <a:r>
              <a:rPr lang="en-US" altLang="ko-KR" dirty="0"/>
              <a:t> </a:t>
            </a:r>
            <a:r>
              <a:rPr lang="en-US" altLang="ko-KR" dirty="0" err="1"/>
              <a:t>코드워드가</a:t>
            </a:r>
            <a:r>
              <a:rPr lang="en-US" altLang="ko-KR" dirty="0"/>
              <a:t> </a:t>
            </a:r>
            <a:r>
              <a:rPr lang="en-US" altLang="ko-KR" dirty="0" err="1"/>
              <a:t>나오기</a:t>
            </a:r>
            <a:r>
              <a:rPr lang="en-US" altLang="ko-KR" dirty="0"/>
              <a:t> </a:t>
            </a:r>
            <a:r>
              <a:rPr lang="en-US" altLang="ko-KR" dirty="0" err="1"/>
              <a:t>때문에</a:t>
            </a:r>
            <a:r>
              <a:rPr lang="en-US" altLang="ko-KR" dirty="0"/>
              <a:t> </a:t>
            </a:r>
            <a:r>
              <a:rPr lang="en-US" altLang="ko-KR" dirty="0" err="1"/>
              <a:t>선형</a:t>
            </a:r>
            <a:r>
              <a:rPr lang="en-US" altLang="ko-KR" dirty="0"/>
              <a:t> </a:t>
            </a:r>
            <a:r>
              <a:rPr lang="en-US" altLang="ko-KR" dirty="0" err="1"/>
              <a:t>블록</a:t>
            </a:r>
            <a:r>
              <a:rPr lang="en-US" altLang="ko-KR" dirty="0"/>
              <a:t> </a:t>
            </a:r>
            <a:r>
              <a:rPr lang="en-US" altLang="ko-KR" dirty="0" err="1"/>
              <a:t>코드이다</a:t>
            </a:r>
            <a:r>
              <a:rPr lang="en-US" altLang="ko-KR" dirty="0"/>
              <a:t>. </a:t>
            </a:r>
            <a:r>
              <a:rPr lang="en-US" altLang="ko-KR" dirty="0" err="1"/>
              <a:t>예를</a:t>
            </a:r>
            <a:r>
              <a:rPr lang="en-US" altLang="ko-KR" dirty="0"/>
              <a:t> </a:t>
            </a:r>
            <a:r>
              <a:rPr lang="en-US" altLang="ko-KR" dirty="0" err="1"/>
              <a:t>들면</a:t>
            </a:r>
            <a:r>
              <a:rPr lang="en-US" altLang="ko-KR" dirty="0"/>
              <a:t>, 두 </a:t>
            </a:r>
            <a:r>
              <a:rPr lang="en-US" altLang="ko-KR" dirty="0" err="1"/>
              <a:t>번째</a:t>
            </a:r>
            <a:r>
              <a:rPr lang="en-US" altLang="ko-KR" dirty="0"/>
              <a:t> </a:t>
            </a:r>
            <a:r>
              <a:rPr lang="en-US" altLang="ko-KR" dirty="0" err="1"/>
              <a:t>코드워드와</a:t>
            </a:r>
            <a:r>
              <a:rPr lang="en-US" altLang="ko-KR" dirty="0"/>
              <a:t> 세 </a:t>
            </a:r>
            <a:r>
              <a:rPr lang="en-US" altLang="ko-KR" dirty="0" err="1"/>
              <a:t>번째</a:t>
            </a:r>
            <a:r>
              <a:rPr lang="en-US" altLang="ko-KR" dirty="0"/>
              <a:t> </a:t>
            </a:r>
            <a:r>
              <a:rPr lang="en-US" altLang="ko-KR" dirty="0" err="1"/>
              <a:t>코드워드를</a:t>
            </a:r>
            <a:r>
              <a:rPr lang="en-US" altLang="ko-KR" dirty="0"/>
              <a:t> </a:t>
            </a:r>
            <a:r>
              <a:rPr lang="en-US" altLang="ko-KR" dirty="0" err="1"/>
              <a:t>XOR하면</a:t>
            </a:r>
            <a:r>
              <a:rPr lang="en-US" altLang="ko-KR" dirty="0"/>
              <a:t> 네 </a:t>
            </a:r>
            <a:r>
              <a:rPr lang="en-US" altLang="ko-KR" dirty="0" err="1"/>
              <a:t>번째</a:t>
            </a:r>
            <a:r>
              <a:rPr lang="en-US" altLang="ko-KR" dirty="0"/>
              <a:t> </a:t>
            </a:r>
            <a:r>
              <a:rPr lang="en-US" altLang="ko-KR" dirty="0" err="1"/>
              <a:t>코드워드가</a:t>
            </a:r>
            <a:r>
              <a:rPr lang="en-US" altLang="ko-KR" dirty="0"/>
              <a:t> </a:t>
            </a:r>
            <a:r>
              <a:rPr lang="en-US" altLang="ko-KR" dirty="0" err="1"/>
              <a:t>나온다</a:t>
            </a:r>
            <a:r>
              <a:rPr lang="en-US" altLang="ko-KR" dirty="0"/>
              <a:t>.</a:t>
            </a:r>
          </a:p>
        </p:txBody>
      </p:sp>
      <p:sp>
        <p:nvSpPr>
          <p:cNvPr id="61444" name="슬라이드 번호 개체 틀 3">
            <a:extLst>
              <a:ext uri="{FF2B5EF4-FFF2-40B4-BE49-F238E27FC236}">
                <a16:creationId xmlns:a16="http://schemas.microsoft.com/office/drawing/2014/main" id="{29C847A5-47C6-4362-9390-CF30DDBF4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C7415C64-3104-405B-B8CD-0AD3758FC85D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5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34B551-19B4-AFF4-58F4-5FB62E144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86000"/>
            <a:ext cx="4922837" cy="1081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2644E-45E9-4E4B-BB72-8D653CC05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013700" cy="5953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순환 코드</a:t>
            </a:r>
          </a:p>
        </p:txBody>
      </p:sp>
      <p:sp>
        <p:nvSpPr>
          <p:cNvPr id="75779" name="내용 개체 틀 2">
            <a:extLst>
              <a:ext uri="{FF2B5EF4-FFF2-40B4-BE49-F238E27FC236}">
                <a16:creationId xmlns:a16="http://schemas.microsoft.com/office/drawing/2014/main" id="{C08EE9EA-B28B-4538-AD0C-214869D48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r>
              <a:rPr lang="ko-KR" altLang="en-US" dirty="0"/>
              <a:t>순환 코드</a:t>
            </a:r>
            <a:r>
              <a:rPr lang="en-US" altLang="ko-KR" dirty="0"/>
              <a:t>(cyclic code)</a:t>
            </a:r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특별한 성질이 있는 선형 블록 코드</a:t>
            </a:r>
            <a:endParaRPr lang="en-US" altLang="ko-KR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 err="1"/>
              <a:t>코드워드를</a:t>
            </a:r>
            <a:r>
              <a:rPr lang="ko-KR" altLang="en-US" dirty="0"/>
              <a:t> 순환시켜 다른 </a:t>
            </a:r>
            <a:r>
              <a:rPr lang="ko-KR" altLang="en-US" dirty="0" err="1"/>
              <a:t>코드워드를</a:t>
            </a:r>
            <a:r>
              <a:rPr lang="ko-KR" altLang="en-US" dirty="0"/>
              <a:t> 얻음</a:t>
            </a:r>
            <a:endParaRPr lang="en-US" altLang="ko-KR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예를 들어</a:t>
            </a:r>
            <a:r>
              <a:rPr lang="en-US" altLang="ko-KR" dirty="0"/>
              <a:t>, 1011000</a:t>
            </a:r>
            <a:r>
              <a:rPr lang="ko-KR" altLang="en-US" dirty="0"/>
              <a:t>이 </a:t>
            </a:r>
            <a:r>
              <a:rPr lang="ko-KR" altLang="en-US" dirty="0" err="1"/>
              <a:t>코드워드이면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개의 비트를 왼쪽으로 이동시켜 얻는 코드워드 </a:t>
            </a:r>
            <a:r>
              <a:rPr lang="en-US" altLang="ko-KR" dirty="0"/>
              <a:t>0110001</a:t>
            </a:r>
            <a:r>
              <a:rPr lang="ko-KR" altLang="en-US" dirty="0"/>
              <a:t>도 코드워드</a:t>
            </a:r>
            <a:endParaRPr lang="en-US" altLang="ko-KR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endParaRPr lang="ko-KR" altLang="en-US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endParaRPr lang="ko-KR" altLang="en-US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맨 오른쪽 등식에서는 첫 번째 워드의 마지막 비트가 두 번째 워드의 첫 번째 비트가 됨</a:t>
            </a:r>
          </a:p>
        </p:txBody>
      </p:sp>
      <p:sp>
        <p:nvSpPr>
          <p:cNvPr id="75780" name="슬라이드 번호 개체 틀 3">
            <a:extLst>
              <a:ext uri="{FF2B5EF4-FFF2-40B4-BE49-F238E27FC236}">
                <a16:creationId xmlns:a16="http://schemas.microsoft.com/office/drawing/2014/main" id="{941C87CA-4F2B-486A-9CDF-6587F5DDF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3F735746-4967-4E45-9A55-55F48D40BE00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6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  <p:pic>
        <p:nvPicPr>
          <p:cNvPr id="75781" name="Picture 5">
            <a:extLst>
              <a:ext uri="{FF2B5EF4-FFF2-40B4-BE49-F238E27FC236}">
                <a16:creationId xmlns:a16="http://schemas.microsoft.com/office/drawing/2014/main" id="{2B1CC9BB-B984-4CE4-A08F-1E370BD0F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289300"/>
            <a:ext cx="5638800" cy="21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1F3D99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E6704-2EAA-40C9-9B9F-159612F9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394700" cy="5953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순환 중복 검사</a:t>
            </a:r>
          </a:p>
        </p:txBody>
      </p:sp>
      <p:sp>
        <p:nvSpPr>
          <p:cNvPr id="77827" name="내용 개체 틀 2">
            <a:extLst>
              <a:ext uri="{FF2B5EF4-FFF2-40B4-BE49-F238E27FC236}">
                <a16:creationId xmlns:a16="http://schemas.microsoft.com/office/drawing/2014/main" id="{B9737A5A-A4E4-433C-9AE5-2C89F7E108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92969"/>
            <a:ext cx="8670925" cy="5473700"/>
          </a:xfrm>
        </p:spPr>
        <p:txBody>
          <a:bodyPr/>
          <a:lstStyle/>
          <a:p>
            <a:r>
              <a:rPr lang="ko-KR" altLang="en-US" dirty="0"/>
              <a:t>표 </a:t>
            </a:r>
            <a:r>
              <a:rPr lang="en-US" altLang="ko-KR" dirty="0"/>
              <a:t>3.3: CRC </a:t>
            </a:r>
            <a:r>
              <a:rPr lang="ko-KR" altLang="en-US" dirty="0"/>
              <a:t>코드 </a:t>
            </a:r>
            <a:r>
              <a:rPr lang="en-US" altLang="ko-KR" dirty="0"/>
              <a:t>C(7,4)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코드의 최소 </a:t>
            </a:r>
            <a:r>
              <a:rPr lang="ko-KR" altLang="en-US" dirty="0" err="1"/>
              <a:t>해밍거리는</a:t>
            </a:r>
            <a:r>
              <a:rPr lang="ko-KR" altLang="en-US" dirty="0"/>
              <a:t> 얼마인가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 코드는 몇 비트의 폭주 오류를 모두</a:t>
            </a:r>
            <a:r>
              <a:rPr lang="en-US" altLang="ko-KR" dirty="0"/>
              <a:t> </a:t>
            </a:r>
            <a:r>
              <a:rPr lang="ko-KR" altLang="en-US" dirty="0"/>
              <a:t>찾아 낼 수 있는가</a:t>
            </a:r>
            <a:r>
              <a:rPr lang="en-US" altLang="ko-KR" dirty="0"/>
              <a:t>?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최소 </a:t>
            </a:r>
            <a:r>
              <a:rPr lang="ko-KR" altLang="en-US" dirty="0" err="1">
                <a:solidFill>
                  <a:srgbClr val="FF0000"/>
                </a:solidFill>
              </a:rPr>
              <a:t>해밍거리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3.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비트 오류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77828" name="슬라이드 번호 개체 틀 3">
            <a:extLst>
              <a:ext uri="{FF2B5EF4-FFF2-40B4-BE49-F238E27FC236}">
                <a16:creationId xmlns:a16="http://schemas.microsoft.com/office/drawing/2014/main" id="{C517FDA1-B256-4B8E-B022-F2A85482E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6265B2C9-97B9-4A5C-8276-5B05B2A96E88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7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  <p:pic>
        <p:nvPicPr>
          <p:cNvPr id="77829" name="그림 2">
            <a:extLst>
              <a:ext uri="{FF2B5EF4-FFF2-40B4-BE49-F238E27FC236}">
                <a16:creationId xmlns:a16="http://schemas.microsoft.com/office/drawing/2014/main" id="{780F3D61-82CD-4066-8ECC-AE80962A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261225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4A150-6F60-4A87-BB96-4F47B73FA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3185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3.3: </a:t>
            </a:r>
            <a:r>
              <a:rPr lang="ko-KR" altLang="en-US" dirty="0"/>
              <a:t>매체 접근 프로토콜</a:t>
            </a:r>
          </a:p>
        </p:txBody>
      </p:sp>
      <p:sp>
        <p:nvSpPr>
          <p:cNvPr id="105475" name="내용 개체 틀 2">
            <a:extLst>
              <a:ext uri="{FF2B5EF4-FFF2-40B4-BE49-F238E27FC236}">
                <a16:creationId xmlns:a16="http://schemas.microsoft.com/office/drawing/2014/main" id="{F1DA52C6-9F9B-4212-9C7E-4E9BF44767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r>
              <a:rPr lang="ko-KR" altLang="en-US"/>
              <a:t>다중 접근</a:t>
            </a:r>
            <a:r>
              <a:rPr lang="en-US" altLang="ko-KR"/>
              <a:t>(Multiple Access): </a:t>
            </a:r>
            <a:r>
              <a:rPr lang="ko-KR" altLang="en-US"/>
              <a:t>노드나 지국이 다중점 또는 브로드캐스트 링크라는 공유 링크를 사용할 때 링크에 접근하는 것을 조율하기 위한 다중 접근 프로토콜이 필요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그림 </a:t>
            </a:r>
            <a:r>
              <a:rPr lang="en-US" altLang="ko-KR"/>
              <a:t>3.23: </a:t>
            </a:r>
            <a:r>
              <a:rPr lang="ko-KR" altLang="en-US"/>
              <a:t>다중 접근 프로토콜의 분류</a:t>
            </a:r>
          </a:p>
          <a:p>
            <a:endParaRPr lang="ko-KR" altLang="en-US"/>
          </a:p>
        </p:txBody>
      </p:sp>
      <p:sp>
        <p:nvSpPr>
          <p:cNvPr id="105476" name="슬라이드 번호 개체 틀 3">
            <a:extLst>
              <a:ext uri="{FF2B5EF4-FFF2-40B4-BE49-F238E27FC236}">
                <a16:creationId xmlns:a16="http://schemas.microsoft.com/office/drawing/2014/main" id="{F7824042-BBAE-4BAB-906D-F4FB1BD62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B23C5643-5DC5-47EF-86A7-14DCA5DDFC46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8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D52B6-7A82-4047-B9D4-3F6E87C73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3657600"/>
            <a:ext cx="8453437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AB5D24-D9DA-4614-B838-BF712E122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5295900"/>
            <a:ext cx="7834313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A8C83-943B-4B87-A76C-C7430261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91440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ALOHA</a:t>
            </a:r>
            <a:endParaRPr lang="ko-KR" altLang="en-US" dirty="0"/>
          </a:p>
        </p:txBody>
      </p:sp>
      <p:sp>
        <p:nvSpPr>
          <p:cNvPr id="111619" name="내용 개체 틀 2">
            <a:extLst>
              <a:ext uri="{FF2B5EF4-FFF2-40B4-BE49-F238E27FC236}">
                <a16:creationId xmlns:a16="http://schemas.microsoft.com/office/drawing/2014/main" id="{9522D45E-228A-4CB3-A427-7EC5A8AC4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3.8: </a:t>
            </a:r>
            <a:r>
              <a:rPr lang="ko-KR" altLang="en-US" dirty="0"/>
              <a:t>무선 </a:t>
            </a:r>
            <a:r>
              <a:rPr lang="en-US" altLang="ko-KR" dirty="0"/>
              <a:t>ALOHA </a:t>
            </a:r>
            <a:r>
              <a:rPr lang="ko-KR" altLang="en-US" dirty="0"/>
              <a:t>네트워크에 연결된 지국들은 최대 서로 </a:t>
            </a:r>
            <a:r>
              <a:rPr lang="en-US" altLang="ko-KR" dirty="0"/>
              <a:t>600 km </a:t>
            </a:r>
            <a:r>
              <a:rPr lang="ko-KR" altLang="en-US" dirty="0"/>
              <a:t>떨어져 있다</a:t>
            </a:r>
            <a:r>
              <a:rPr lang="en-US" altLang="ko-KR" dirty="0"/>
              <a:t>. </a:t>
            </a:r>
            <a:r>
              <a:rPr lang="ko-KR" altLang="en-US" dirty="0"/>
              <a:t>신호가 </a:t>
            </a:r>
            <a:r>
              <a:rPr lang="en-US" altLang="ko-KR" dirty="0"/>
              <a:t>3×10</a:t>
            </a:r>
            <a:r>
              <a:rPr lang="en-US" altLang="ko-KR" baseline="30000" dirty="0"/>
              <a:t>8</a:t>
            </a:r>
            <a:r>
              <a:rPr lang="ko-KR" altLang="en-US" dirty="0"/>
              <a:t> </a:t>
            </a:r>
            <a:r>
              <a:rPr lang="en-US" altLang="ko-KR" dirty="0"/>
              <a:t>m/s</a:t>
            </a:r>
            <a:r>
              <a:rPr lang="ko-KR" altLang="en-US" dirty="0"/>
              <a:t>의 속도로 전파한다면 </a:t>
            </a:r>
            <a:r>
              <a:rPr lang="en-US" altLang="ko-KR" i="1" dirty="0" err="1"/>
              <a:t>T</a:t>
            </a:r>
            <a:r>
              <a:rPr lang="en-US" altLang="ko-KR" i="1" baseline="-25000" dirty="0" err="1"/>
              <a:t>p</a:t>
            </a:r>
            <a:r>
              <a:rPr lang="ko-KR" altLang="en-US" dirty="0"/>
              <a:t> </a:t>
            </a:r>
            <a:r>
              <a:rPr lang="en-US" altLang="ko-KR" dirty="0"/>
              <a:t>= (600×10</a:t>
            </a:r>
            <a:r>
              <a:rPr lang="en-US" altLang="ko-KR" baseline="30000" dirty="0"/>
              <a:t>3</a:t>
            </a:r>
            <a:r>
              <a:rPr lang="en-US" altLang="ko-KR" dirty="0"/>
              <a:t>) / (3×10</a:t>
            </a:r>
            <a:r>
              <a:rPr lang="en-US" altLang="ko-KR" baseline="30000" dirty="0"/>
              <a:t>8</a:t>
            </a:r>
            <a:r>
              <a:rPr lang="en-US" altLang="ko-KR" dirty="0"/>
              <a:t>) = 2 </a:t>
            </a:r>
            <a:r>
              <a:rPr lang="en-US" altLang="ko-KR" dirty="0" err="1"/>
              <a:t>ms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i="1" dirty="0"/>
              <a:t>K</a:t>
            </a:r>
            <a:r>
              <a:rPr lang="ko-KR" altLang="en-US" dirty="0"/>
              <a:t> </a:t>
            </a:r>
            <a:r>
              <a:rPr lang="en-US" altLang="ko-KR" dirty="0"/>
              <a:t>= 2</a:t>
            </a:r>
            <a:r>
              <a:rPr lang="ko-KR" altLang="en-US" dirty="0"/>
              <a:t>인 경우에는 범위는 </a:t>
            </a:r>
            <a:r>
              <a:rPr lang="en-US" altLang="ko-KR" dirty="0"/>
              <a:t>{0, 1, 2, 3}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i="1" dirty="0"/>
              <a:t>T</a:t>
            </a:r>
            <a:r>
              <a:rPr lang="en-US" altLang="ko-KR" i="1" baseline="-25000" dirty="0"/>
              <a:t>B</a:t>
            </a:r>
            <a:r>
              <a:rPr lang="ko-KR" altLang="en-US" dirty="0"/>
              <a:t>는 난수로 어느 값을 </a:t>
            </a:r>
            <a:r>
              <a:rPr lang="ko-KR" altLang="en-US" dirty="0" err="1"/>
              <a:t>선택하느냐에</a:t>
            </a:r>
            <a:r>
              <a:rPr lang="ko-KR" altLang="en-US" dirty="0"/>
              <a:t> 따라 </a:t>
            </a:r>
            <a:r>
              <a:rPr lang="en-US" altLang="ko-KR" dirty="0"/>
              <a:t>0, 2, 4 </a:t>
            </a:r>
            <a:r>
              <a:rPr lang="ko-KR" altLang="en-US" dirty="0"/>
              <a:t>또는 </a:t>
            </a:r>
            <a:r>
              <a:rPr lang="en-US" altLang="ko-KR" dirty="0"/>
              <a:t>6ms </a:t>
            </a:r>
            <a:r>
              <a:rPr lang="ko-KR" altLang="en-US" dirty="0"/>
              <a:t>중 하나가 된다는 것을 의미한다</a:t>
            </a:r>
            <a:r>
              <a:rPr lang="en-US" altLang="ko-KR" dirty="0"/>
              <a:t>.</a:t>
            </a:r>
          </a:p>
          <a:p>
            <a:r>
              <a:rPr lang="en-US" altLang="ko-KR" i="1" dirty="0"/>
              <a:t>K</a:t>
            </a:r>
            <a:r>
              <a:rPr lang="en-US" altLang="ko-KR" dirty="0"/>
              <a:t> = 3</a:t>
            </a:r>
            <a:r>
              <a:rPr lang="ko-KR" altLang="en-US" dirty="0"/>
              <a:t>인 경우 최대로 기다리는 시간은 얼마인가</a:t>
            </a:r>
            <a:r>
              <a:rPr lang="en-US" altLang="ko-KR" dirty="0"/>
              <a:t>?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K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3</a:t>
            </a:r>
            <a:r>
              <a:rPr lang="ko-KR" altLang="en-US" dirty="0">
                <a:solidFill>
                  <a:srgbClr val="FF0000"/>
                </a:solidFill>
              </a:rPr>
              <a:t>인 경우 범위는 </a:t>
            </a:r>
            <a:r>
              <a:rPr lang="en-US" altLang="ko-KR" dirty="0">
                <a:solidFill>
                  <a:srgbClr val="FF0000"/>
                </a:solidFill>
              </a:rPr>
              <a:t>{0, 1, 2, 3, 4, 5, 6, 7}</a:t>
            </a:r>
            <a:r>
              <a:rPr lang="ko-KR" altLang="en-US" dirty="0">
                <a:solidFill>
                  <a:srgbClr val="FF0000"/>
                </a:solidFill>
              </a:rPr>
              <a:t>이다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이는 </a:t>
            </a:r>
            <a:r>
              <a:rPr lang="en-US" altLang="ko-KR" i="1" dirty="0">
                <a:solidFill>
                  <a:srgbClr val="FF0000"/>
                </a:solidFill>
              </a:rPr>
              <a:t>T</a:t>
            </a:r>
            <a:r>
              <a:rPr lang="en-US" altLang="ko-KR" i="1" baseline="-25000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는 난수로 어느 값을 </a:t>
            </a:r>
            <a:r>
              <a:rPr lang="ko-KR" altLang="en-US" dirty="0" err="1">
                <a:solidFill>
                  <a:srgbClr val="FF0000"/>
                </a:solidFill>
              </a:rPr>
              <a:t>선택하느냐에</a:t>
            </a:r>
            <a:r>
              <a:rPr lang="ko-KR" altLang="en-US" dirty="0">
                <a:solidFill>
                  <a:srgbClr val="FF0000"/>
                </a:solidFill>
              </a:rPr>
              <a:t> 따라 </a:t>
            </a:r>
            <a:r>
              <a:rPr lang="en-US" altLang="ko-KR" dirty="0">
                <a:solidFill>
                  <a:srgbClr val="FF0000"/>
                </a:solidFill>
              </a:rPr>
              <a:t>0, 2, 4 . . .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14ms </a:t>
            </a:r>
            <a:r>
              <a:rPr lang="ko-KR" altLang="en-US" dirty="0">
                <a:solidFill>
                  <a:srgbClr val="FF0000"/>
                </a:solidFill>
              </a:rPr>
              <a:t>중 하나이므로 최대값은 </a:t>
            </a:r>
            <a:r>
              <a:rPr lang="en-US" altLang="ko-KR" dirty="0">
                <a:solidFill>
                  <a:srgbClr val="FF0000"/>
                </a:solidFill>
              </a:rPr>
              <a:t>14ms</a:t>
            </a:r>
            <a:r>
              <a:rPr lang="ko-KR" altLang="en-US" dirty="0">
                <a:solidFill>
                  <a:srgbClr val="FF0000"/>
                </a:solidFill>
              </a:rPr>
              <a:t>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  <p:sp>
        <p:nvSpPr>
          <p:cNvPr id="111620" name="슬라이드 번호 개체 틀 3">
            <a:extLst>
              <a:ext uri="{FF2B5EF4-FFF2-40B4-BE49-F238E27FC236}">
                <a16:creationId xmlns:a16="http://schemas.microsoft.com/office/drawing/2014/main" id="{E677573B-555F-4F3E-AA57-31747D990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5CA57574-CBD1-4871-97DA-4CFA010F84FB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9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DC31A-DFFD-C542-F025-F5EA0F3C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6B6DC-BB9A-1E44-F7CC-A49494C6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91440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ALOHA</a:t>
            </a:r>
            <a:endParaRPr lang="ko-KR" altLang="en-US" dirty="0"/>
          </a:p>
        </p:txBody>
      </p:sp>
      <p:sp>
        <p:nvSpPr>
          <p:cNvPr id="111619" name="내용 개체 틀 2">
            <a:extLst>
              <a:ext uri="{FF2B5EF4-FFF2-40B4-BE49-F238E27FC236}">
                <a16:creationId xmlns:a16="http://schemas.microsoft.com/office/drawing/2014/main" id="{C26A3124-82FD-D3C3-2256-43987EA6EC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3.8: </a:t>
            </a:r>
            <a:r>
              <a:rPr lang="ko-KR" altLang="en-US" dirty="0"/>
              <a:t>무선 </a:t>
            </a:r>
            <a:r>
              <a:rPr lang="en-US" altLang="ko-KR" dirty="0"/>
              <a:t>ALOHA </a:t>
            </a:r>
            <a:r>
              <a:rPr lang="ko-KR" altLang="en-US" dirty="0"/>
              <a:t>네트워크에 연결된 지국들은 최대 서로 </a:t>
            </a:r>
            <a:r>
              <a:rPr lang="en-US" altLang="ko-KR" dirty="0"/>
              <a:t>300 km </a:t>
            </a:r>
            <a:r>
              <a:rPr lang="ko-KR" altLang="en-US" dirty="0"/>
              <a:t>떨어져 있다</a:t>
            </a:r>
            <a:r>
              <a:rPr lang="en-US" altLang="ko-KR" dirty="0"/>
              <a:t>. </a:t>
            </a:r>
          </a:p>
          <a:p>
            <a:r>
              <a:rPr lang="en-US" altLang="ko-KR" i="1" dirty="0"/>
              <a:t>K</a:t>
            </a:r>
            <a:r>
              <a:rPr lang="en-US" altLang="ko-KR" dirty="0"/>
              <a:t> = 4</a:t>
            </a:r>
            <a:r>
              <a:rPr lang="ko-KR" altLang="en-US" dirty="0"/>
              <a:t>인 경우 최대로 기다리는 시간은 얼마인가</a:t>
            </a:r>
            <a:r>
              <a:rPr lang="en-US" altLang="ko-KR" dirty="0"/>
              <a:t>?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K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4</a:t>
            </a:r>
            <a:r>
              <a:rPr lang="ko-KR" altLang="en-US" dirty="0">
                <a:solidFill>
                  <a:srgbClr val="FF0000"/>
                </a:solidFill>
              </a:rPr>
              <a:t>인 경우 범위는 </a:t>
            </a:r>
            <a:r>
              <a:rPr lang="en-US" altLang="ko-KR" dirty="0">
                <a:solidFill>
                  <a:srgbClr val="FF0000"/>
                </a:solidFill>
              </a:rPr>
              <a:t>{0, 1, 2, 3, . . .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 15}</a:t>
            </a:r>
            <a:r>
              <a:rPr lang="ko-KR" altLang="en-US" dirty="0">
                <a:solidFill>
                  <a:srgbClr val="FF0000"/>
                </a:solidFill>
              </a:rPr>
              <a:t>이다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이는 </a:t>
            </a:r>
            <a:r>
              <a:rPr lang="en-US" altLang="ko-KR" i="1" dirty="0">
                <a:solidFill>
                  <a:srgbClr val="FF0000"/>
                </a:solidFill>
              </a:rPr>
              <a:t>T</a:t>
            </a:r>
            <a:r>
              <a:rPr lang="en-US" altLang="ko-KR" i="1" baseline="-25000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는 난수로 어느 값을 </a:t>
            </a:r>
            <a:r>
              <a:rPr lang="ko-KR" altLang="en-US" dirty="0" err="1">
                <a:solidFill>
                  <a:srgbClr val="FF0000"/>
                </a:solidFill>
              </a:rPr>
              <a:t>선택하느냐에</a:t>
            </a:r>
            <a:r>
              <a:rPr lang="ko-KR" altLang="en-US" dirty="0">
                <a:solidFill>
                  <a:srgbClr val="FF0000"/>
                </a:solidFill>
              </a:rPr>
              <a:t> 따라 </a:t>
            </a:r>
            <a:r>
              <a:rPr lang="en-US" altLang="ko-KR" dirty="0">
                <a:solidFill>
                  <a:srgbClr val="FF0000"/>
                </a:solidFill>
              </a:rPr>
              <a:t>0, 1, 2 . . .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15ms </a:t>
            </a:r>
            <a:r>
              <a:rPr lang="ko-KR" altLang="en-US" dirty="0">
                <a:solidFill>
                  <a:srgbClr val="FF0000"/>
                </a:solidFill>
              </a:rPr>
              <a:t>중 하나이므로 최대값은 </a:t>
            </a:r>
            <a:r>
              <a:rPr lang="en-US" altLang="ko-KR" dirty="0">
                <a:solidFill>
                  <a:srgbClr val="FF0000"/>
                </a:solidFill>
              </a:rPr>
              <a:t>15ms</a:t>
            </a:r>
            <a:r>
              <a:rPr lang="ko-KR" altLang="en-US" dirty="0">
                <a:solidFill>
                  <a:srgbClr val="FF0000"/>
                </a:solidFill>
              </a:rPr>
              <a:t>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  <p:sp>
        <p:nvSpPr>
          <p:cNvPr id="111620" name="슬라이드 번호 개체 틀 3">
            <a:extLst>
              <a:ext uri="{FF2B5EF4-FFF2-40B4-BE49-F238E27FC236}">
                <a16:creationId xmlns:a16="http://schemas.microsoft.com/office/drawing/2014/main" id="{13903973-5A64-B04A-F54B-88D383A783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5CA57574-CBD1-4871-97DA-4CFA010F84FB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10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328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D39B2-6E38-4793-ABFF-5C31206A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524875" cy="595313"/>
          </a:xfrm>
        </p:spPr>
        <p:txBody>
          <a:bodyPr/>
          <a:lstStyle/>
          <a:p>
            <a:pPr>
              <a:defRPr/>
            </a:pPr>
            <a:r>
              <a:rPr lang="ko-KR" altLang="en-US" dirty="0" err="1"/>
              <a:t>반송파</a:t>
            </a:r>
            <a:r>
              <a:rPr lang="ko-KR" altLang="en-US" dirty="0"/>
              <a:t> 감지 다중 접근</a:t>
            </a:r>
          </a:p>
        </p:txBody>
      </p:sp>
      <p:sp>
        <p:nvSpPr>
          <p:cNvPr id="121859" name="내용 개체 틀 2">
            <a:extLst>
              <a:ext uri="{FF2B5EF4-FFF2-40B4-BE49-F238E27FC236}">
                <a16:creationId xmlns:a16="http://schemas.microsoft.com/office/drawing/2014/main" id="{19A057AF-F52E-4A88-B72E-3C3993E111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1295400"/>
            <a:ext cx="8670925" cy="4578350"/>
          </a:xfrm>
        </p:spPr>
        <p:txBody>
          <a:bodyPr/>
          <a:lstStyle/>
          <a:p>
            <a:r>
              <a:rPr lang="ko-KR" altLang="en-US" dirty="0"/>
              <a:t>반송파 감지 다중 접근</a:t>
            </a:r>
            <a:r>
              <a:rPr lang="en-US" altLang="ko-KR" dirty="0"/>
              <a:t>(CSMA, Carrier Sense Multiple Access)</a:t>
            </a:r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충돌의 기회를 </a:t>
            </a:r>
            <a:r>
              <a:rPr lang="ko-KR" altLang="en-US" dirty="0" err="1"/>
              <a:t>최소화함으로서</a:t>
            </a:r>
            <a:r>
              <a:rPr lang="ko-KR" altLang="en-US" dirty="0"/>
              <a:t> 성능을 높이기 위하여 </a:t>
            </a:r>
            <a:r>
              <a:rPr lang="en-US" altLang="ko-KR" dirty="0"/>
              <a:t>CSMA </a:t>
            </a:r>
            <a:r>
              <a:rPr lang="ko-KR" altLang="en-US" dirty="0"/>
              <a:t>방법이 개발</a:t>
            </a:r>
            <a:endParaRPr lang="en-US" altLang="ko-KR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각 지국은 전송 전 매체의 상태를 점검</a:t>
            </a:r>
            <a:endParaRPr lang="en-US" altLang="ko-KR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“전송 이전에 감지” 또는 “말하기 이전에 듣기” 원칙에 기반</a:t>
            </a:r>
            <a:endParaRPr lang="en-US" altLang="ko-KR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충돌 가능성을 줄일 수는 있지만 제거는 할 수 없음</a:t>
            </a:r>
            <a:endParaRPr lang="en-US" altLang="ko-KR" dirty="0"/>
          </a:p>
          <a:p>
            <a:pPr marL="857250" lvl="1" indent="-45720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전파 지연 때문에 충돌 가능성은 존재</a:t>
            </a:r>
            <a:endParaRPr lang="en-US" altLang="ko-KR" dirty="0"/>
          </a:p>
        </p:txBody>
      </p:sp>
      <p:sp>
        <p:nvSpPr>
          <p:cNvPr id="121860" name="슬라이드 번호 개체 틀 3">
            <a:extLst>
              <a:ext uri="{FF2B5EF4-FFF2-40B4-BE49-F238E27FC236}">
                <a16:creationId xmlns:a16="http://schemas.microsoft.com/office/drawing/2014/main" id="{924728E0-3ACB-455B-AF40-A46991E88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56B3AC65-49F1-401A-B237-76C971AE26C5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11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56216-3442-4F9D-B7AE-9B2E9856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470900" cy="595313"/>
          </a:xfrm>
        </p:spPr>
        <p:txBody>
          <a:bodyPr/>
          <a:lstStyle/>
          <a:p>
            <a:pPr>
              <a:defRPr/>
            </a:pPr>
            <a:r>
              <a:rPr lang="ko-KR" altLang="en-US" dirty="0" err="1"/>
              <a:t>반송파</a:t>
            </a:r>
            <a:r>
              <a:rPr lang="ko-KR" altLang="en-US" dirty="0"/>
              <a:t> 감지 다중 접근</a:t>
            </a:r>
          </a:p>
        </p:txBody>
      </p:sp>
      <p:sp>
        <p:nvSpPr>
          <p:cNvPr id="35843" name="내용 개체 틀 2">
            <a:extLst>
              <a:ext uri="{FF2B5EF4-FFF2-40B4-BE49-F238E27FC236}">
                <a16:creationId xmlns:a16="http://schemas.microsoft.com/office/drawing/2014/main" id="{BCDC3B31-1B99-4A05-9FAA-736BF8291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지속 방식</a:t>
            </a:r>
            <a:endParaRPr lang="en-US" altLang="ko-KR" dirty="0"/>
          </a:p>
          <a:p>
            <a:pPr marL="857250" lvl="1" indent="-457200">
              <a:buFont typeface="+mj-lt"/>
              <a:buAutoNum type="arabicParenR"/>
              <a:defRPr/>
            </a:pPr>
            <a:r>
              <a:rPr lang="en-US" altLang="ko-KR" dirty="0"/>
              <a:t>1-</a:t>
            </a:r>
            <a:r>
              <a:rPr lang="ko-KR" altLang="en-US" dirty="0"/>
              <a:t>지속 방식</a:t>
            </a:r>
            <a:r>
              <a:rPr lang="en-US" altLang="ko-KR" dirty="0"/>
              <a:t>(1-persistent method)</a:t>
            </a:r>
          </a:p>
          <a:p>
            <a:pPr lvl="2" indent="-342900">
              <a:buFont typeface="휴먼모음T" pitchFamily="18" charset="-127"/>
              <a:buChar char="-"/>
              <a:defRPr/>
            </a:pPr>
            <a:r>
              <a:rPr lang="ko-KR" altLang="en-US" sz="2000" dirty="0"/>
              <a:t>지국의 회선이 휴지 상태인 것을 감지하게 되면 즉각 프레임을 전송</a:t>
            </a:r>
            <a:r>
              <a:rPr lang="en-US" altLang="ko-KR" sz="2000" dirty="0"/>
              <a:t>(</a:t>
            </a:r>
            <a:r>
              <a:rPr lang="ko-KR" altLang="en-US" sz="2000" dirty="0"/>
              <a:t>확률 </a:t>
            </a:r>
            <a:r>
              <a:rPr lang="en-US" altLang="ko-KR" sz="2000" dirty="0"/>
              <a:t>1</a:t>
            </a:r>
            <a:r>
              <a:rPr lang="ko-KR" altLang="en-US" sz="2000" dirty="0"/>
              <a:t>을 가지고</a:t>
            </a:r>
            <a:r>
              <a:rPr lang="en-US" altLang="ko-KR" sz="2000" dirty="0"/>
              <a:t>)</a:t>
            </a:r>
          </a:p>
          <a:p>
            <a:pPr marL="857250" lvl="1" indent="-457200">
              <a:buFont typeface="+mj-lt"/>
              <a:buAutoNum type="arabicParenR"/>
              <a:defRPr/>
            </a:pPr>
            <a:r>
              <a:rPr lang="ko-KR" altLang="en-US" dirty="0" err="1"/>
              <a:t>비지속</a:t>
            </a:r>
            <a:r>
              <a:rPr lang="ko-KR" altLang="en-US" dirty="0"/>
              <a:t> 방식</a:t>
            </a:r>
            <a:r>
              <a:rPr lang="en-US" altLang="ko-KR" dirty="0"/>
              <a:t>(</a:t>
            </a:r>
            <a:r>
              <a:rPr lang="en-US" altLang="ko-KR" dirty="0" err="1"/>
              <a:t>nonpersistent</a:t>
            </a:r>
            <a:r>
              <a:rPr lang="en-US" altLang="ko-KR" dirty="0"/>
              <a:t> method)</a:t>
            </a:r>
          </a:p>
          <a:p>
            <a:pPr marL="1257300" lvl="2" indent="-457200">
              <a:buFont typeface="휴먼모음T" pitchFamily="18" charset="-127"/>
              <a:buChar char="-"/>
              <a:defRPr/>
            </a:pPr>
            <a:r>
              <a:rPr lang="ko-KR" altLang="en-US" sz="2000" dirty="0"/>
              <a:t>전송할 프레임이 있는 지국이 회선을 감지</a:t>
            </a:r>
            <a:endParaRPr lang="en-US" altLang="ko-KR" sz="2000" dirty="0"/>
          </a:p>
          <a:p>
            <a:pPr marL="1257300" lvl="2" indent="-457200">
              <a:buFont typeface="휴먼모음T" pitchFamily="18" charset="-127"/>
              <a:buChar char="-"/>
              <a:defRPr/>
            </a:pPr>
            <a:r>
              <a:rPr lang="ko-KR" altLang="en-US" sz="2000" dirty="0"/>
              <a:t>회선이 휴지 상태에 있으면 즉각 프레임을 보냄</a:t>
            </a:r>
            <a:endParaRPr lang="en-US" altLang="ko-KR" sz="2000" dirty="0"/>
          </a:p>
          <a:p>
            <a:pPr marL="1257300" lvl="2" indent="-457200">
              <a:buFont typeface="휴먼모음T" pitchFamily="18" charset="-127"/>
              <a:buChar char="-"/>
              <a:defRPr/>
            </a:pPr>
            <a:r>
              <a:rPr lang="ko-KR" altLang="en-US" sz="2000" dirty="0"/>
              <a:t>회선이 휴지 상태에 있지 않으면 임의 시간을 대기하고 있다가 다시 회선을 감지</a:t>
            </a:r>
            <a:endParaRPr lang="en-US" altLang="ko-KR" sz="2000" dirty="0"/>
          </a:p>
          <a:p>
            <a:pPr marL="857250" lvl="1" indent="-457200">
              <a:buFont typeface="+mj-lt"/>
              <a:buAutoNum type="arabicParenR"/>
              <a:defRPr/>
            </a:pPr>
            <a:r>
              <a:rPr lang="en-US" altLang="ko-KR" i="1" dirty="0"/>
              <a:t>p</a:t>
            </a:r>
            <a:r>
              <a:rPr lang="en-US" altLang="ko-KR" dirty="0"/>
              <a:t>-</a:t>
            </a:r>
            <a:r>
              <a:rPr lang="ko-KR" altLang="en-US" dirty="0"/>
              <a:t>지속 방식</a:t>
            </a:r>
            <a:r>
              <a:rPr lang="en-US" altLang="ko-KR" dirty="0"/>
              <a:t>(</a:t>
            </a:r>
            <a:r>
              <a:rPr lang="en-US" altLang="ko-KR" i="1" dirty="0"/>
              <a:t>p</a:t>
            </a:r>
            <a:r>
              <a:rPr lang="en-US" altLang="ko-KR" dirty="0"/>
              <a:t>-persistent method)</a:t>
            </a:r>
          </a:p>
          <a:p>
            <a:pPr marL="1257300" lvl="2" indent="-457200">
              <a:buFont typeface="휴먼모음T" pitchFamily="18" charset="-127"/>
              <a:buChar char="-"/>
              <a:defRPr/>
            </a:pPr>
            <a:r>
              <a:rPr lang="ko-KR" altLang="en-US" sz="2000" dirty="0"/>
              <a:t>회선이 휴지 상태에 있으면 확률 </a:t>
            </a:r>
            <a:r>
              <a:rPr lang="en-US" altLang="ko-KR" sz="2000" i="1" dirty="0"/>
              <a:t>p</a:t>
            </a:r>
            <a:r>
              <a:rPr lang="ko-KR" altLang="en-US" sz="2000" dirty="0"/>
              <a:t>를 가지고 프레임을 전송</a:t>
            </a:r>
            <a:endParaRPr lang="en-US" altLang="ko-KR" sz="2000" dirty="0"/>
          </a:p>
          <a:p>
            <a:pPr marL="1257300" lvl="2" indent="-457200">
              <a:buFont typeface="휴먼모음T" pitchFamily="18" charset="-127"/>
              <a:buChar char="-"/>
              <a:defRPr/>
            </a:pPr>
            <a:r>
              <a:rPr lang="ko-KR" altLang="en-US" sz="2000" dirty="0"/>
              <a:t>확률 </a:t>
            </a:r>
            <a:r>
              <a:rPr lang="en-US" altLang="ko-KR" sz="2000" dirty="0"/>
              <a:t>q=1-</a:t>
            </a:r>
            <a:r>
              <a:rPr lang="en-US" altLang="ko-KR" sz="2000" i="1" dirty="0"/>
              <a:t>p</a:t>
            </a:r>
            <a:r>
              <a:rPr lang="ko-KR" altLang="en-US" sz="2000" dirty="0"/>
              <a:t>를 가지고 지국은 다음 슬롯 시작까지 기다리다가 회선을 다시 감지</a:t>
            </a:r>
          </a:p>
        </p:txBody>
      </p:sp>
      <p:sp>
        <p:nvSpPr>
          <p:cNvPr id="124932" name="슬라이드 번호 개체 틀 3">
            <a:extLst>
              <a:ext uri="{FF2B5EF4-FFF2-40B4-BE49-F238E27FC236}">
                <a16:creationId xmlns:a16="http://schemas.microsoft.com/office/drawing/2014/main" id="{DB967D39-7093-43B3-A99C-112D9F76F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09B58104-50CB-4D58-9A14-4790170F8A70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12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5AF4B-890B-49B6-AB46-AB3673C7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2423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CSMA/CD</a:t>
            </a:r>
            <a:endParaRPr lang="ko-KR" altLang="en-US" dirty="0"/>
          </a:p>
        </p:txBody>
      </p:sp>
      <p:sp>
        <p:nvSpPr>
          <p:cNvPr id="128003" name="내용 개체 틀 2">
            <a:extLst>
              <a:ext uri="{FF2B5EF4-FFF2-40B4-BE49-F238E27FC236}">
                <a16:creationId xmlns:a16="http://schemas.microsoft.com/office/drawing/2014/main" id="{82D438B7-3618-4746-8C38-34E50EE0D3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19200"/>
            <a:ext cx="8670925" cy="45783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/>
              <a:t>충돌 검출 반송파 감지 다중 접근</a:t>
            </a:r>
            <a:r>
              <a:rPr lang="en-US" altLang="ko-KR"/>
              <a:t>(CSMA/CD; Carrier sense multiple access with collision detection)</a:t>
            </a:r>
          </a:p>
          <a:p>
            <a:pPr marL="914400" lvl="1" indent="-457200">
              <a:lnSpc>
                <a:spcPct val="150000"/>
              </a:lnSpc>
              <a:buFont typeface="Arial Black" panose="020B0A04020102020204" pitchFamily="34" charset="0"/>
              <a:buAutoNum type="arabicParenR"/>
            </a:pPr>
            <a:r>
              <a:rPr lang="ko-KR" altLang="en-US"/>
              <a:t>충돌을 처리하는 절차를 더함</a:t>
            </a:r>
            <a:endParaRPr lang="en-US" altLang="ko-KR"/>
          </a:p>
          <a:p>
            <a:pPr marL="914400" lvl="1" indent="-457200">
              <a:lnSpc>
                <a:spcPct val="150000"/>
              </a:lnSpc>
              <a:buFont typeface="Arial Black" panose="020B0A04020102020204" pitchFamily="34" charset="0"/>
              <a:buAutoNum type="arabicParenR"/>
            </a:pPr>
            <a:r>
              <a:rPr lang="ko-KR" altLang="en-US"/>
              <a:t>충돌 발생시 재전송을 요구</a:t>
            </a:r>
            <a:endParaRPr lang="en-US" altLang="ko-KR"/>
          </a:p>
          <a:p>
            <a:pPr marL="914400" lvl="1" indent="-457200">
              <a:lnSpc>
                <a:spcPct val="150000"/>
              </a:lnSpc>
              <a:buFont typeface="Arial Black" panose="020B0A04020102020204" pitchFamily="34" charset="0"/>
              <a:buAutoNum type="arabicParenR"/>
            </a:pPr>
            <a:r>
              <a:rPr lang="ko-KR" altLang="en-US"/>
              <a:t>두 번째 충돌을 줄이기 위해 대기</a:t>
            </a:r>
            <a:endParaRPr lang="en-US" altLang="ko-KR"/>
          </a:p>
          <a:p>
            <a:pPr marL="914400" lvl="1" indent="-457200">
              <a:lnSpc>
                <a:spcPct val="150000"/>
              </a:lnSpc>
              <a:buFont typeface="Arial Black" panose="020B0A04020102020204" pitchFamily="34" charset="0"/>
              <a:buAutoNum type="arabicParenR"/>
            </a:pPr>
            <a:r>
              <a:rPr lang="ko-KR" altLang="en-US"/>
              <a:t>지속적인 백오프 방법에서 대기 시간</a:t>
            </a:r>
          </a:p>
          <a:p>
            <a:pPr lvl="2">
              <a:lnSpc>
                <a:spcPct val="150000"/>
              </a:lnSpc>
              <a:buFont typeface="휴먼모음T" panose="02030504000101010101" pitchFamily="18" charset="-127"/>
              <a:buChar char="-"/>
            </a:pPr>
            <a:r>
              <a:rPr lang="en-US" altLang="ko-KR" sz="1800"/>
              <a:t>0</a:t>
            </a:r>
            <a:r>
              <a:rPr lang="ko-KR" altLang="en-US" sz="1800"/>
              <a:t> 과 </a:t>
            </a:r>
            <a:r>
              <a:rPr lang="en-US" altLang="ko-KR" sz="1800"/>
              <a:t>2</a:t>
            </a:r>
            <a:r>
              <a:rPr lang="en-US" altLang="ko-KR" sz="1800" baseline="30000"/>
              <a:t>N </a:t>
            </a:r>
            <a:r>
              <a:rPr lang="en-US" altLang="ko-KR" sz="1800"/>
              <a:t>× 최대 </a:t>
            </a:r>
            <a:r>
              <a:rPr lang="ko-KR" altLang="en-US" sz="1800"/>
              <a:t>전송 </a:t>
            </a:r>
            <a:r>
              <a:rPr lang="en-US" altLang="ko-KR" sz="1800"/>
              <a:t>시간</a:t>
            </a:r>
            <a:r>
              <a:rPr lang="ko-KR" altLang="en-US" sz="1800"/>
              <a:t> 사이만큼 대기</a:t>
            </a:r>
            <a:r>
              <a:rPr lang="en-US" altLang="ko-KR" sz="1800"/>
              <a:t>(N: </a:t>
            </a:r>
            <a:r>
              <a:rPr lang="ko-KR" altLang="en-US" sz="1800"/>
              <a:t>전송 시도 회수</a:t>
            </a:r>
            <a:r>
              <a:rPr lang="en-US" altLang="ko-KR" sz="1800"/>
              <a:t>)</a:t>
            </a:r>
          </a:p>
        </p:txBody>
      </p:sp>
      <p:sp>
        <p:nvSpPr>
          <p:cNvPr id="128004" name="슬라이드 번호 개체 틀 3">
            <a:extLst>
              <a:ext uri="{FF2B5EF4-FFF2-40B4-BE49-F238E27FC236}">
                <a16:creationId xmlns:a16="http://schemas.microsoft.com/office/drawing/2014/main" id="{8A8BC1DB-35A3-4576-970F-0786FB198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9F29ADAF-0CDC-4740-8D04-AFCF1667DC6E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13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A9236-0BAA-4C5D-8745-3908C1D5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0899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CSMA/CD</a:t>
            </a:r>
            <a:endParaRPr lang="ko-KR" altLang="en-US" dirty="0"/>
          </a:p>
        </p:txBody>
      </p:sp>
      <p:sp>
        <p:nvSpPr>
          <p:cNvPr id="130051" name="내용 개체 틀 2">
            <a:extLst>
              <a:ext uri="{FF2B5EF4-FFF2-40B4-BE49-F238E27FC236}">
                <a16:creationId xmlns:a16="http://schemas.microsoft.com/office/drawing/2014/main" id="{04B1D77B-2F5C-4A6E-A9FF-00F6C70799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2250" y="908050"/>
            <a:ext cx="8670925" cy="5473700"/>
          </a:xfrm>
        </p:spPr>
        <p:txBody>
          <a:bodyPr/>
          <a:lstStyle/>
          <a:p>
            <a:pPr latinLnBrk="0"/>
            <a:r>
              <a:rPr lang="ko-KR" altLang="en-US" dirty="0"/>
              <a:t>그림 </a:t>
            </a:r>
            <a:r>
              <a:rPr lang="en-US" altLang="ko-KR" dirty="0"/>
              <a:t>3.34: CSMA/CD</a:t>
            </a:r>
            <a:r>
              <a:rPr lang="ko-KR" altLang="en-US" dirty="0"/>
              <a:t>에서의 충돌과 폐기</a:t>
            </a:r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r>
              <a:rPr lang="ko-KR" altLang="en-US" dirty="0"/>
              <a:t>최소 프레임 크기</a:t>
            </a:r>
            <a:endParaRPr lang="en-US" altLang="ko-KR" dirty="0"/>
          </a:p>
          <a:p>
            <a:pPr marL="914400" lvl="1" indent="-457200" latinLnBrk="0">
              <a:buFont typeface="Arial Black" panose="020B0A04020102020204" pitchFamily="34" charset="0"/>
              <a:buAutoNum type="arabicParenR"/>
            </a:pPr>
            <a:r>
              <a:rPr lang="en-US" altLang="ko-KR" dirty="0"/>
              <a:t>CSMA/CD</a:t>
            </a:r>
            <a:r>
              <a:rPr lang="ko-KR" altLang="en-US" dirty="0"/>
              <a:t>가 동작하기 위해서는 프레임의 크기에 제한을 둬야 함</a:t>
            </a:r>
            <a:endParaRPr lang="en-US" altLang="ko-KR" dirty="0"/>
          </a:p>
          <a:p>
            <a:pPr marL="914400" lvl="1" indent="-457200" latinLnBrk="0">
              <a:buFont typeface="Arial Black" panose="020B0A04020102020204" pitchFamily="34" charset="0"/>
              <a:buAutoNum type="arabicParenR"/>
            </a:pPr>
            <a:r>
              <a:rPr lang="ko-KR" altLang="en-US" dirty="0"/>
              <a:t>프레임 전송 시간</a:t>
            </a:r>
            <a:r>
              <a:rPr lang="en-US" altLang="ko-KR" dirty="0"/>
              <a:t>(frame transmission time)</a:t>
            </a:r>
            <a:r>
              <a:rPr lang="ko-KR" altLang="en-US" dirty="0"/>
              <a:t> </a:t>
            </a:r>
            <a:r>
              <a:rPr lang="en-US" altLang="ko-KR" i="1" dirty="0" err="1"/>
              <a:t>T</a:t>
            </a:r>
            <a:r>
              <a:rPr lang="en-US" altLang="ko-KR" baseline="-25000" dirty="0" err="1"/>
              <a:t>fr</a:t>
            </a:r>
            <a:r>
              <a:rPr lang="ko-KR" altLang="en-US" dirty="0"/>
              <a:t>은 최소한 최대 전파 시간</a:t>
            </a:r>
            <a:r>
              <a:rPr lang="en-US" altLang="ko-KR" dirty="0"/>
              <a:t>(maximum propagation time), </a:t>
            </a:r>
            <a:r>
              <a:rPr lang="en-US" altLang="ko-KR" i="1" dirty="0" err="1"/>
              <a:t>T</a:t>
            </a:r>
            <a:r>
              <a:rPr lang="en-US" altLang="ko-KR" i="1" baseline="-25000" dirty="0" err="1"/>
              <a:t>p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배가 되어야 함</a:t>
            </a:r>
          </a:p>
        </p:txBody>
      </p:sp>
      <p:sp>
        <p:nvSpPr>
          <p:cNvPr id="130052" name="슬라이드 번호 개체 틀 3">
            <a:extLst>
              <a:ext uri="{FF2B5EF4-FFF2-40B4-BE49-F238E27FC236}">
                <a16:creationId xmlns:a16="http://schemas.microsoft.com/office/drawing/2014/main" id="{4E09A7F9-6541-4FA1-9E88-29EB5E5E4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2D0BE6D0-BC82-49CE-97E2-67E4C60C6333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14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  <p:pic>
        <p:nvPicPr>
          <p:cNvPr id="130053" name="Picture 2" descr="A graph depicts Collision and abortion in CSMA/CD.">
            <a:extLst>
              <a:ext uri="{FF2B5EF4-FFF2-40B4-BE49-F238E27FC236}">
                <a16:creationId xmlns:a16="http://schemas.microsoft.com/office/drawing/2014/main" id="{3C2308DC-9FA8-45E2-9C46-4784F874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412163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44D8D-D02F-4316-BDB7-FB28CF8B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2423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CSMA/CD</a:t>
            </a:r>
            <a:endParaRPr lang="ko-KR" altLang="en-US" dirty="0"/>
          </a:p>
        </p:txBody>
      </p:sp>
      <p:sp>
        <p:nvSpPr>
          <p:cNvPr id="131075" name="내용 개체 틀 2">
            <a:extLst>
              <a:ext uri="{FF2B5EF4-FFF2-40B4-BE49-F238E27FC236}">
                <a16:creationId xmlns:a16="http://schemas.microsoft.com/office/drawing/2014/main" id="{77BA9276-A7D1-45DE-9821-5EE3B63D59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538" y="901700"/>
            <a:ext cx="8670925" cy="5473700"/>
          </a:xfrm>
        </p:spPr>
        <p:txBody>
          <a:bodyPr/>
          <a:lstStyle/>
          <a:p>
            <a:pPr latinLnBrk="0"/>
            <a:r>
              <a:rPr lang="ko-KR" altLang="en-US" dirty="0"/>
              <a:t>예제 </a:t>
            </a:r>
            <a:r>
              <a:rPr lang="en-US" altLang="ko-KR" dirty="0"/>
              <a:t>3.12: </a:t>
            </a:r>
            <a:r>
              <a:rPr lang="ko-KR" altLang="en-US" dirty="0"/>
              <a:t>어느 </a:t>
            </a:r>
            <a:r>
              <a:rPr lang="en-US" altLang="ko-KR" dirty="0"/>
              <a:t>CSMA/CD</a:t>
            </a:r>
            <a:r>
              <a:rPr lang="ko-KR" altLang="en-US" dirty="0"/>
              <a:t>를 사용하는 네트워크의 대역폭이 </a:t>
            </a:r>
            <a:r>
              <a:rPr lang="en-US" altLang="ko-KR" dirty="0"/>
              <a:t>10 Mbps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최대 전파 시간</a:t>
            </a:r>
            <a:r>
              <a:rPr lang="en-US" altLang="ko-KR" dirty="0"/>
              <a:t>(</a:t>
            </a:r>
            <a:r>
              <a:rPr lang="ko-KR" altLang="en-US" dirty="0"/>
              <a:t>장치에서 지연 시간을 포함하되 충돌을 알리는 데 걸리는 시간을 무시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25.6μs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최소 프레임의 크기는</a:t>
            </a:r>
            <a:r>
              <a:rPr lang="en-US" altLang="ko-KR" dirty="0"/>
              <a:t>?</a:t>
            </a:r>
            <a:endParaRPr lang="ko-KR" altLang="en-US" dirty="0"/>
          </a:p>
          <a:p>
            <a:pPr latinLnBrk="0"/>
            <a:endParaRPr lang="en-US" altLang="ko-KR" dirty="0"/>
          </a:p>
          <a:p>
            <a:pPr latinLnBrk="0"/>
            <a:r>
              <a:rPr lang="ko-KR" altLang="en-US" dirty="0">
                <a:solidFill>
                  <a:srgbClr val="FF0000"/>
                </a:solidFill>
              </a:rPr>
              <a:t>해답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최소 프레임 전송 시간은 </a:t>
            </a:r>
            <a:r>
              <a:rPr lang="en-US" altLang="ko-KR" i="1" dirty="0" err="1">
                <a:solidFill>
                  <a:srgbClr val="FF0000"/>
                </a:solidFill>
              </a:rPr>
              <a:t>T</a:t>
            </a:r>
            <a:r>
              <a:rPr lang="en-US" altLang="ko-KR" baseline="-25000" dirty="0" err="1">
                <a:solidFill>
                  <a:srgbClr val="FF0000"/>
                </a:solidFill>
              </a:rPr>
              <a:t>fr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2×</a:t>
            </a:r>
            <a:r>
              <a:rPr lang="en-US" altLang="ko-KR" i="1" dirty="0">
                <a:solidFill>
                  <a:srgbClr val="FF0000"/>
                </a:solidFill>
              </a:rPr>
              <a:t>T</a:t>
            </a:r>
            <a:r>
              <a:rPr lang="en-US" altLang="ko-KR" i="1" baseline="-25000" dirty="0">
                <a:solidFill>
                  <a:srgbClr val="FF0000"/>
                </a:solidFill>
              </a:rPr>
              <a:t>p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51.2μs. </a:t>
            </a:r>
            <a:r>
              <a:rPr lang="ko-KR" altLang="en-US" dirty="0">
                <a:solidFill>
                  <a:srgbClr val="FF0000"/>
                </a:solidFill>
              </a:rPr>
              <a:t>이는 최악의 경우에는 지국이 전송하면서 충돌 여부를 확인하기 위해서는 최소 </a:t>
            </a:r>
            <a:r>
              <a:rPr lang="en-US" altLang="ko-KR" dirty="0">
                <a:solidFill>
                  <a:srgbClr val="FF0000"/>
                </a:solidFill>
              </a:rPr>
              <a:t>51.2μs </a:t>
            </a:r>
            <a:r>
              <a:rPr lang="ko-KR" altLang="en-US" dirty="0">
                <a:solidFill>
                  <a:srgbClr val="FF0000"/>
                </a:solidFill>
              </a:rPr>
              <a:t>동안 기다려야 한다는 것을 의미한다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프레임의 최소 크기는 </a:t>
            </a:r>
            <a:r>
              <a:rPr lang="en-US" altLang="ko-KR" dirty="0">
                <a:solidFill>
                  <a:srgbClr val="FF0000"/>
                </a:solidFill>
              </a:rPr>
              <a:t>10 Mbps×51.2μs = 512</a:t>
            </a:r>
            <a:r>
              <a:rPr lang="ko-KR" altLang="en-US" dirty="0">
                <a:solidFill>
                  <a:srgbClr val="FF0000"/>
                </a:solidFill>
              </a:rPr>
              <a:t>비트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즉 </a:t>
            </a:r>
            <a:r>
              <a:rPr lang="en-US" altLang="ko-KR" dirty="0">
                <a:solidFill>
                  <a:srgbClr val="FF0000"/>
                </a:solidFill>
              </a:rPr>
              <a:t>64</a:t>
            </a:r>
            <a:r>
              <a:rPr lang="ko-KR" altLang="en-US" dirty="0">
                <a:solidFill>
                  <a:srgbClr val="FF0000"/>
                </a:solidFill>
              </a:rPr>
              <a:t>바이트이다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이는 뒤의 장에서 보겠지만 실제로 표준 이더넷 프레임의 최소 크기이다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/>
            <a:endParaRPr lang="ko-KR" altLang="en-US" dirty="0"/>
          </a:p>
        </p:txBody>
      </p:sp>
      <p:sp>
        <p:nvSpPr>
          <p:cNvPr id="131076" name="슬라이드 번호 개체 틀 3">
            <a:extLst>
              <a:ext uri="{FF2B5EF4-FFF2-40B4-BE49-F238E27FC236}">
                <a16:creationId xmlns:a16="http://schemas.microsoft.com/office/drawing/2014/main" id="{EBBC197A-7DDE-413C-9E38-0936274B4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73F63973-DCDC-43D1-89D9-E76A03D40BAA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15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C738-80B5-C911-ED2E-ABC311BD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5A0F9-7AB1-0460-BB5C-7A206D38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30175"/>
            <a:ext cx="8242300" cy="59531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CSMA/CD</a:t>
            </a:r>
            <a:endParaRPr lang="ko-KR" altLang="en-US" dirty="0"/>
          </a:p>
        </p:txBody>
      </p:sp>
      <p:sp>
        <p:nvSpPr>
          <p:cNvPr id="131075" name="내용 개체 틀 2">
            <a:extLst>
              <a:ext uri="{FF2B5EF4-FFF2-40B4-BE49-F238E27FC236}">
                <a16:creationId xmlns:a16="http://schemas.microsoft.com/office/drawing/2014/main" id="{E74EF633-F69F-4F7A-CDD4-65F19D3BC9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538" y="901700"/>
            <a:ext cx="8670925" cy="5473700"/>
          </a:xfrm>
        </p:spPr>
        <p:txBody>
          <a:bodyPr/>
          <a:lstStyle/>
          <a:p>
            <a:pPr latinLnBrk="0"/>
            <a:r>
              <a:rPr lang="ko-KR" altLang="en-US" dirty="0"/>
              <a:t>예제 </a:t>
            </a:r>
            <a:r>
              <a:rPr lang="en-US" altLang="ko-KR" dirty="0"/>
              <a:t>3.12: </a:t>
            </a:r>
            <a:r>
              <a:rPr lang="ko-KR" altLang="en-US" dirty="0"/>
              <a:t>어느 </a:t>
            </a:r>
            <a:r>
              <a:rPr lang="en-US" altLang="ko-KR" dirty="0"/>
              <a:t>CSMA/CD</a:t>
            </a:r>
            <a:r>
              <a:rPr lang="ko-KR" altLang="en-US" dirty="0"/>
              <a:t>를 사용하는 네트워크의 대역폭이 </a:t>
            </a:r>
            <a:r>
              <a:rPr lang="en-US" altLang="ko-KR" dirty="0"/>
              <a:t>100 Mbps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프레임의 최소 크기는 </a:t>
            </a:r>
            <a:r>
              <a:rPr lang="en-US" altLang="ko-KR" dirty="0"/>
              <a:t>64</a:t>
            </a:r>
            <a:r>
              <a:rPr lang="ko-KR" altLang="en-US" dirty="0"/>
              <a:t>바이트이다</a:t>
            </a:r>
            <a:r>
              <a:rPr lang="en-US" altLang="ko-KR" dirty="0"/>
              <a:t>. </a:t>
            </a:r>
            <a:r>
              <a:rPr lang="ko-KR" altLang="en-US" dirty="0"/>
              <a:t>이 네트워크의 최대 길이는 얼마인가</a:t>
            </a:r>
            <a:r>
              <a:rPr lang="en-US" altLang="ko-KR" dirty="0"/>
              <a:t>?</a:t>
            </a:r>
            <a:endParaRPr lang="ko-KR" altLang="en-US" dirty="0"/>
          </a:p>
          <a:p>
            <a:pPr latinLnBrk="0"/>
            <a:r>
              <a:rPr lang="ko-KR" altLang="en-US" dirty="0">
                <a:solidFill>
                  <a:srgbClr val="FF0000"/>
                </a:solidFill>
              </a:rPr>
              <a:t>해답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프레임 전송 시간</a:t>
            </a:r>
            <a:r>
              <a:rPr lang="en-US" altLang="ko-KR" i="1" dirty="0" err="1">
                <a:solidFill>
                  <a:srgbClr val="FF0000"/>
                </a:solidFill>
              </a:rPr>
              <a:t>T</a:t>
            </a:r>
            <a:r>
              <a:rPr lang="en-US" altLang="ko-KR" baseline="-25000" dirty="0" err="1">
                <a:solidFill>
                  <a:srgbClr val="FF0000"/>
                </a:solidFill>
              </a:rPr>
              <a:t>fr</a:t>
            </a:r>
            <a:r>
              <a:rPr lang="ko-KR" altLang="en-US" dirty="0">
                <a:solidFill>
                  <a:srgbClr val="FF0000"/>
                </a:solidFill>
              </a:rPr>
              <a:t>은 최소한 최대 전파 시간</a:t>
            </a:r>
            <a:r>
              <a:rPr lang="en-US" altLang="ko-KR" i="1" dirty="0" err="1">
                <a:solidFill>
                  <a:srgbClr val="FF0000"/>
                </a:solidFill>
              </a:rPr>
              <a:t>T</a:t>
            </a:r>
            <a:r>
              <a:rPr lang="en-US" altLang="ko-KR" i="1" baseline="-25000" dirty="0" err="1">
                <a:solidFill>
                  <a:srgbClr val="FF0000"/>
                </a:solidFill>
              </a:rPr>
              <a:t>p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배가 되어야 하므로 </a:t>
            </a:r>
            <a:r>
              <a:rPr lang="en-US" altLang="ko-KR" i="1" dirty="0" err="1">
                <a:solidFill>
                  <a:srgbClr val="FF0000"/>
                </a:solidFill>
              </a:rPr>
              <a:t>T</a:t>
            </a:r>
            <a:r>
              <a:rPr lang="en-US" altLang="ko-KR" baseline="-25000" dirty="0" err="1">
                <a:solidFill>
                  <a:srgbClr val="FF0000"/>
                </a:solidFill>
              </a:rPr>
              <a:t>fr</a:t>
            </a:r>
            <a:r>
              <a:rPr lang="en-US" altLang="ko-KR" i="1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≥</a:t>
            </a:r>
            <a:r>
              <a:rPr lang="en-US" altLang="ko-KR" i="1" dirty="0">
                <a:solidFill>
                  <a:srgbClr val="FF0000"/>
                </a:solidFill>
              </a:rPr>
              <a:t> 2T</a:t>
            </a:r>
            <a:r>
              <a:rPr lang="en-US" altLang="ko-KR" i="1" baseline="-25000" dirty="0">
                <a:solidFill>
                  <a:srgbClr val="FF0000"/>
                </a:solidFill>
              </a:rPr>
              <a:t>p</a:t>
            </a:r>
          </a:p>
          <a:p>
            <a:pPr latinLnBrk="0"/>
            <a:r>
              <a:rPr lang="en-US" altLang="ko-KR" i="1" dirty="0" err="1">
                <a:solidFill>
                  <a:srgbClr val="FF0000"/>
                </a:solidFill>
              </a:rPr>
              <a:t>T</a:t>
            </a:r>
            <a:r>
              <a:rPr lang="en-US" altLang="ko-KR" baseline="-25000" dirty="0" err="1">
                <a:solidFill>
                  <a:srgbClr val="FF0000"/>
                </a:solidFill>
              </a:rPr>
              <a:t>fr</a:t>
            </a:r>
            <a:r>
              <a:rPr lang="en-US" altLang="ko-KR" baseline="-25000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</a:t>
            </a:r>
            <a:r>
              <a:rPr lang="ko-KR" altLang="en-US" dirty="0">
                <a:solidFill>
                  <a:srgbClr val="FF0000"/>
                </a:solidFill>
              </a:rPr>
              <a:t>프레임 크기</a:t>
            </a:r>
            <a:r>
              <a:rPr lang="en-US" altLang="ko-KR" dirty="0">
                <a:solidFill>
                  <a:srgbClr val="FF0000"/>
                </a:solidFill>
              </a:rPr>
              <a:t>(bits)/</a:t>
            </a:r>
            <a:r>
              <a:rPr lang="ko-KR" altLang="en-US" dirty="0">
                <a:solidFill>
                  <a:srgbClr val="FF0000"/>
                </a:solidFill>
              </a:rPr>
              <a:t>전송률</a:t>
            </a:r>
            <a:r>
              <a:rPr lang="en-US" altLang="ko-KR" dirty="0">
                <a:solidFill>
                  <a:srgbClr val="FF0000"/>
                </a:solidFill>
              </a:rPr>
              <a:t>(bps)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= 64x8/100M = 51.2μs</a:t>
            </a:r>
          </a:p>
          <a:p>
            <a:pPr latinLnBrk="0"/>
            <a:r>
              <a:rPr lang="en-US" altLang="ko-KR" i="1" dirty="0" err="1">
                <a:solidFill>
                  <a:srgbClr val="FF0000"/>
                </a:solidFill>
              </a:rPr>
              <a:t>T</a:t>
            </a:r>
            <a:r>
              <a:rPr lang="en-US" altLang="ko-KR" i="1" baseline="-25000" dirty="0" err="1">
                <a:solidFill>
                  <a:srgbClr val="FF0000"/>
                </a:solidFill>
              </a:rPr>
              <a:t>p</a:t>
            </a:r>
            <a:r>
              <a:rPr lang="en-US" altLang="ko-KR" i="1" baseline="-25000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</a:t>
            </a:r>
            <a:r>
              <a:rPr lang="ko-KR" altLang="en-US" dirty="0">
                <a:solidFill>
                  <a:srgbClr val="FF0000"/>
                </a:solidFill>
              </a:rPr>
              <a:t>네트워크 길이</a:t>
            </a:r>
            <a:r>
              <a:rPr lang="en-US" altLang="ko-KR" dirty="0">
                <a:solidFill>
                  <a:srgbClr val="FF0000"/>
                </a:solidFill>
              </a:rPr>
              <a:t>(m)/</a:t>
            </a:r>
            <a:r>
              <a:rPr lang="ko-KR" altLang="en-US" dirty="0">
                <a:solidFill>
                  <a:srgbClr val="FF0000"/>
                </a:solidFill>
              </a:rPr>
              <a:t>전파속도</a:t>
            </a:r>
            <a:r>
              <a:rPr lang="en-US" altLang="ko-KR" dirty="0">
                <a:solidFill>
                  <a:srgbClr val="FF0000"/>
                </a:solidFill>
              </a:rPr>
              <a:t>(m/s)= L/2x10</a:t>
            </a:r>
            <a:r>
              <a:rPr lang="en-US" altLang="ko-KR" baseline="30000" dirty="0">
                <a:solidFill>
                  <a:srgbClr val="FF0000"/>
                </a:solidFill>
              </a:rPr>
              <a:t>8</a:t>
            </a:r>
          </a:p>
          <a:p>
            <a:pPr latinLnBrk="0"/>
            <a:r>
              <a:rPr lang="en-US" altLang="ko-KR" dirty="0">
                <a:solidFill>
                  <a:srgbClr val="FF0000"/>
                </a:solidFill>
              </a:rPr>
              <a:t>512/100M ≥ 2xL/2x10</a:t>
            </a:r>
            <a:r>
              <a:rPr lang="en-US" altLang="ko-KR" baseline="30000" dirty="0">
                <a:solidFill>
                  <a:srgbClr val="FF0000"/>
                </a:solidFill>
              </a:rPr>
              <a:t>8</a:t>
            </a:r>
            <a:endParaRPr lang="en-US" altLang="ko-KR" dirty="0">
              <a:solidFill>
                <a:srgbClr val="FF0000"/>
              </a:solidFill>
            </a:endParaRPr>
          </a:p>
          <a:p>
            <a:pPr latinLnBrk="0"/>
            <a:r>
              <a:rPr lang="en-US" altLang="ko-KR" dirty="0">
                <a:solidFill>
                  <a:srgbClr val="FF0000"/>
                </a:solidFill>
              </a:rPr>
              <a:t>512m ≥ L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1076" name="슬라이드 번호 개체 틀 3">
            <a:extLst>
              <a:ext uri="{FF2B5EF4-FFF2-40B4-BE49-F238E27FC236}">
                <a16:creationId xmlns:a16="http://schemas.microsoft.com/office/drawing/2014/main" id="{46A239FB-03BF-50DF-A1EB-9131BE536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Webdings" panose="05030102010509060703" pitchFamily="18" charset="2"/>
              <a:buChar char="&lt;"/>
              <a:defRPr kumimoji="1" sz="2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fld id="{73F63973-DCDC-43D1-89D9-E76A03D40BAA}" type="slidenum">
              <a:rPr kumimoji="0" lang="ko-KR" altLang="en-US" sz="1600" smtClean="0">
                <a:solidFill>
                  <a:schemeClr val="bg1"/>
                </a:solidFill>
                <a:latin typeface="Berlin Sans FB" panose="020E0602020502020306" pitchFamily="34" charset="0"/>
                <a:ea typeface="맑은 고딕" panose="020B0503020000020004" pitchFamily="50" charset="-127"/>
              </a:rPr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t>16</a:t>
            </a:fld>
            <a:endParaRPr kumimoji="0" lang="ko-KR" altLang="en-US" sz="1600">
              <a:solidFill>
                <a:schemeClr val="bg1"/>
              </a:solidFill>
              <a:latin typeface="Berlin Sans FB" panose="020E0602020502020306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16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5-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D0EEF4"/>
      </a:hlink>
      <a:folHlink>
        <a:srgbClr val="CCCCCC"/>
      </a:folHlink>
    </a:clrScheme>
    <a:fontScheme name="Prefab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宋体"/>
        <a:font script="Hant" typeface="新細明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triangl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1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triangl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1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network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7842</TotalTime>
  <Words>985</Words>
  <Application>Microsoft Office PowerPoint</Application>
  <PresentationFormat>화면 슬라이드 쇼(4:3)</PresentationFormat>
  <Paragraphs>132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Baby Kruffy</vt:lpstr>
      <vt:lpstr>HY견고딕</vt:lpstr>
      <vt:lpstr>굴림</vt:lpstr>
      <vt:lpstr>휴먼모음T</vt:lpstr>
      <vt:lpstr>휴먼엑스포</vt:lpstr>
      <vt:lpstr>Arial Black</vt:lpstr>
      <vt:lpstr>Berlin Sans FB</vt:lpstr>
      <vt:lpstr>Times New Roman</vt:lpstr>
      <vt:lpstr>Webdings</vt:lpstr>
      <vt:lpstr>Wingdings</vt:lpstr>
      <vt:lpstr>5-테마</vt:lpstr>
      <vt:lpstr>링크의 두 가지 유형은 무엇인가?</vt:lpstr>
      <vt:lpstr>두 개의 부계층은 각각 무엇인가?</vt:lpstr>
      <vt:lpstr>3.2.1 프레임 짜기</vt:lpstr>
      <vt:lpstr>3.2.1 프레임 짜기</vt:lpstr>
      <vt:lpstr>선형 블록 코드</vt:lpstr>
      <vt:lpstr>순환 코드</vt:lpstr>
      <vt:lpstr>순환 중복 검사</vt:lpstr>
      <vt:lpstr>3.3: 매체 접근 프로토콜</vt:lpstr>
      <vt:lpstr>ALOHA</vt:lpstr>
      <vt:lpstr>ALOHA</vt:lpstr>
      <vt:lpstr>반송파 감지 다중 접근</vt:lpstr>
      <vt:lpstr>반송파 감지 다중 접근</vt:lpstr>
      <vt:lpstr>CSMA/CD</vt:lpstr>
      <vt:lpstr>CSMA/CD</vt:lpstr>
      <vt:lpstr>CSMA/CD</vt:lpstr>
      <vt:lpstr>CSMA/CD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ParkChan</cp:lastModifiedBy>
  <cp:revision>492</cp:revision>
  <dcterms:created xsi:type="dcterms:W3CDTF">2000-01-15T04:50:39Z</dcterms:created>
  <dcterms:modified xsi:type="dcterms:W3CDTF">2026-10-19T15:59:00Z</dcterms:modified>
</cp:coreProperties>
</file>